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81" r:id="rId2"/>
    <p:sldId id="401" r:id="rId3"/>
    <p:sldId id="361" r:id="rId4"/>
    <p:sldId id="360" r:id="rId5"/>
    <p:sldId id="408" r:id="rId6"/>
    <p:sldId id="407" r:id="rId7"/>
    <p:sldId id="393" r:id="rId8"/>
    <p:sldId id="402" r:id="rId9"/>
    <p:sldId id="358" r:id="rId10"/>
    <p:sldId id="400" r:id="rId11"/>
    <p:sldId id="406" r:id="rId12"/>
    <p:sldId id="365" r:id="rId13"/>
    <p:sldId id="395" r:id="rId14"/>
    <p:sldId id="391" r:id="rId15"/>
    <p:sldId id="404" r:id="rId16"/>
    <p:sldId id="403" r:id="rId17"/>
    <p:sldId id="362" r:id="rId18"/>
    <p:sldId id="390" r:id="rId19"/>
    <p:sldId id="405" r:id="rId20"/>
    <p:sldId id="36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p:scale>
          <a:sx n="100" d="100"/>
          <a:sy n="100" d="100"/>
        </p:scale>
        <p:origin x="1563" y="6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8E0C3A-3290-4C65-99A9-71B09B3C71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497587D-8D1B-4C6A-910D-0183B4E5B7F1}">
      <dgm:prSet/>
      <dgm:spPr/>
      <dgm:t>
        <a:bodyPr/>
        <a:lstStyle/>
        <a:p>
          <a:r>
            <a:rPr lang="en-US" dirty="0" err="1"/>
            <a:t>Hexbeam</a:t>
          </a:r>
          <a:r>
            <a:rPr lang="en-US" dirty="0"/>
            <a:t> (20m, 15m, 10m) </a:t>
          </a:r>
        </a:p>
      </dgm:t>
    </dgm:pt>
    <dgm:pt modelId="{147383A9-345D-4A50-BA41-3EF96E2C5F65}" type="parTrans" cxnId="{F4433B1D-BF8D-4B35-99F3-28D22864FCD7}">
      <dgm:prSet/>
      <dgm:spPr/>
      <dgm:t>
        <a:bodyPr/>
        <a:lstStyle/>
        <a:p>
          <a:endParaRPr lang="en-US"/>
        </a:p>
      </dgm:t>
    </dgm:pt>
    <dgm:pt modelId="{4CBFCBE9-BE87-4883-ADEC-4768D32EED5C}" type="sibTrans" cxnId="{F4433B1D-BF8D-4B35-99F3-28D22864FCD7}">
      <dgm:prSet/>
      <dgm:spPr/>
      <dgm:t>
        <a:bodyPr/>
        <a:lstStyle/>
        <a:p>
          <a:endParaRPr lang="en-US"/>
        </a:p>
      </dgm:t>
    </dgm:pt>
    <dgm:pt modelId="{C4F26217-66C9-4163-9513-6B3FDAB24D82}">
      <dgm:prSet/>
      <dgm:spPr/>
      <dgm:t>
        <a:bodyPr/>
        <a:lstStyle/>
        <a:p>
          <a:r>
            <a:rPr lang="en-US"/>
            <a:t>OCF Dipole (80m – 6m)  132ft</a:t>
          </a:r>
        </a:p>
      </dgm:t>
    </dgm:pt>
    <dgm:pt modelId="{564D2ADD-20DE-47DA-818E-75661481948B}" type="parTrans" cxnId="{7FAF032D-0525-4E47-990F-9808D56B7D16}">
      <dgm:prSet/>
      <dgm:spPr/>
      <dgm:t>
        <a:bodyPr/>
        <a:lstStyle/>
        <a:p>
          <a:endParaRPr lang="en-US"/>
        </a:p>
      </dgm:t>
    </dgm:pt>
    <dgm:pt modelId="{068B4055-27A0-4F09-A1BE-38EC460A0F8A}" type="sibTrans" cxnId="{7FAF032D-0525-4E47-990F-9808D56B7D16}">
      <dgm:prSet/>
      <dgm:spPr/>
      <dgm:t>
        <a:bodyPr/>
        <a:lstStyle/>
        <a:p>
          <a:endParaRPr lang="en-US"/>
        </a:p>
      </dgm:t>
    </dgm:pt>
    <dgm:pt modelId="{C7FA3C0F-2ACE-4D59-81B8-8591FEE16ED3}">
      <dgm:prSet/>
      <dgm:spPr/>
      <dgm:t>
        <a:bodyPr/>
        <a:lstStyle/>
        <a:p>
          <a:r>
            <a:rPr lang="en-US" dirty="0"/>
            <a:t>ZS6BKW (80m – 10m) </a:t>
          </a:r>
        </a:p>
      </dgm:t>
    </dgm:pt>
    <dgm:pt modelId="{3FCFC691-EDAE-48EF-8D8B-6A11FABB1D11}" type="parTrans" cxnId="{29DDE7AD-9EDB-4FD5-B288-8304F5066A7F}">
      <dgm:prSet/>
      <dgm:spPr/>
      <dgm:t>
        <a:bodyPr/>
        <a:lstStyle/>
        <a:p>
          <a:endParaRPr lang="en-US"/>
        </a:p>
      </dgm:t>
    </dgm:pt>
    <dgm:pt modelId="{DB764CCC-C5FC-42D3-BE38-50C1C8184AAA}" type="sibTrans" cxnId="{29DDE7AD-9EDB-4FD5-B288-8304F5066A7F}">
      <dgm:prSet/>
      <dgm:spPr/>
      <dgm:t>
        <a:bodyPr/>
        <a:lstStyle/>
        <a:p>
          <a:endParaRPr lang="en-US"/>
        </a:p>
      </dgm:t>
    </dgm:pt>
    <dgm:pt modelId="{EB914952-FE9F-4489-B3B9-9378B97E580F}">
      <dgm:prSet/>
      <dgm:spPr/>
      <dgm:t>
        <a:bodyPr/>
        <a:lstStyle/>
        <a:p>
          <a:r>
            <a:rPr lang="en-US"/>
            <a:t>Rollup J-pole (VHF/UHF) on 30ft push-up mast</a:t>
          </a:r>
        </a:p>
      </dgm:t>
    </dgm:pt>
    <dgm:pt modelId="{6D73859B-C5CF-4861-9216-EA0496704B18}" type="parTrans" cxnId="{85AB507C-411F-45E0-AD08-685466FB0A8D}">
      <dgm:prSet/>
      <dgm:spPr/>
      <dgm:t>
        <a:bodyPr/>
        <a:lstStyle/>
        <a:p>
          <a:endParaRPr lang="en-US"/>
        </a:p>
      </dgm:t>
    </dgm:pt>
    <dgm:pt modelId="{3981B218-97D7-4BDC-B7CF-1289D6FE85BC}" type="sibTrans" cxnId="{85AB507C-411F-45E0-AD08-685466FB0A8D}">
      <dgm:prSet/>
      <dgm:spPr/>
      <dgm:t>
        <a:bodyPr/>
        <a:lstStyle/>
        <a:p>
          <a:endParaRPr lang="en-US"/>
        </a:p>
      </dgm:t>
    </dgm:pt>
    <dgm:pt modelId="{98C92638-6782-430C-B40F-D32336C00DFB}" type="pres">
      <dgm:prSet presAssocID="{5F8E0C3A-3290-4C65-99A9-71B09B3C717F}" presName="linear" presStyleCnt="0">
        <dgm:presLayoutVars>
          <dgm:animLvl val="lvl"/>
          <dgm:resizeHandles val="exact"/>
        </dgm:presLayoutVars>
      </dgm:prSet>
      <dgm:spPr/>
    </dgm:pt>
    <dgm:pt modelId="{17DB5307-2285-4924-988A-64BD557A8B93}" type="pres">
      <dgm:prSet presAssocID="{F497587D-8D1B-4C6A-910D-0183B4E5B7F1}" presName="parentText" presStyleLbl="node1" presStyleIdx="0" presStyleCnt="4">
        <dgm:presLayoutVars>
          <dgm:chMax val="0"/>
          <dgm:bulletEnabled val="1"/>
        </dgm:presLayoutVars>
      </dgm:prSet>
      <dgm:spPr/>
    </dgm:pt>
    <dgm:pt modelId="{6298EE28-007A-4FE1-808C-A550995697BB}" type="pres">
      <dgm:prSet presAssocID="{4CBFCBE9-BE87-4883-ADEC-4768D32EED5C}" presName="spacer" presStyleCnt="0"/>
      <dgm:spPr/>
    </dgm:pt>
    <dgm:pt modelId="{BD6BD292-16D2-4F43-80D1-CF2FCD1EEB9C}" type="pres">
      <dgm:prSet presAssocID="{C4F26217-66C9-4163-9513-6B3FDAB24D82}" presName="parentText" presStyleLbl="node1" presStyleIdx="1" presStyleCnt="4">
        <dgm:presLayoutVars>
          <dgm:chMax val="0"/>
          <dgm:bulletEnabled val="1"/>
        </dgm:presLayoutVars>
      </dgm:prSet>
      <dgm:spPr/>
    </dgm:pt>
    <dgm:pt modelId="{23E32BE3-F124-4437-ABA0-696404590331}" type="pres">
      <dgm:prSet presAssocID="{068B4055-27A0-4F09-A1BE-38EC460A0F8A}" presName="spacer" presStyleCnt="0"/>
      <dgm:spPr/>
    </dgm:pt>
    <dgm:pt modelId="{B44C7556-7D2D-4EA3-ABA7-14E5576DFEA6}" type="pres">
      <dgm:prSet presAssocID="{C7FA3C0F-2ACE-4D59-81B8-8591FEE16ED3}" presName="parentText" presStyleLbl="node1" presStyleIdx="2" presStyleCnt="4">
        <dgm:presLayoutVars>
          <dgm:chMax val="0"/>
          <dgm:bulletEnabled val="1"/>
        </dgm:presLayoutVars>
      </dgm:prSet>
      <dgm:spPr/>
    </dgm:pt>
    <dgm:pt modelId="{EDB676B5-A776-4F82-9942-A1BBE09C88A0}" type="pres">
      <dgm:prSet presAssocID="{DB764CCC-C5FC-42D3-BE38-50C1C8184AAA}" presName="spacer" presStyleCnt="0"/>
      <dgm:spPr/>
    </dgm:pt>
    <dgm:pt modelId="{BD9395F5-68C3-4EFF-9FB3-7EC6171024BF}" type="pres">
      <dgm:prSet presAssocID="{EB914952-FE9F-4489-B3B9-9378B97E580F}" presName="parentText" presStyleLbl="node1" presStyleIdx="3" presStyleCnt="4">
        <dgm:presLayoutVars>
          <dgm:chMax val="0"/>
          <dgm:bulletEnabled val="1"/>
        </dgm:presLayoutVars>
      </dgm:prSet>
      <dgm:spPr/>
    </dgm:pt>
  </dgm:ptLst>
  <dgm:cxnLst>
    <dgm:cxn modelId="{47BD141A-D5E8-4419-AF87-C54D9A39DE2E}" type="presOf" srcId="{C7FA3C0F-2ACE-4D59-81B8-8591FEE16ED3}" destId="{B44C7556-7D2D-4EA3-ABA7-14E5576DFEA6}" srcOrd="0" destOrd="0" presId="urn:microsoft.com/office/officeart/2005/8/layout/vList2"/>
    <dgm:cxn modelId="{F4433B1D-BF8D-4B35-99F3-28D22864FCD7}" srcId="{5F8E0C3A-3290-4C65-99A9-71B09B3C717F}" destId="{F497587D-8D1B-4C6A-910D-0183B4E5B7F1}" srcOrd="0" destOrd="0" parTransId="{147383A9-345D-4A50-BA41-3EF96E2C5F65}" sibTransId="{4CBFCBE9-BE87-4883-ADEC-4768D32EED5C}"/>
    <dgm:cxn modelId="{7FAF032D-0525-4E47-990F-9808D56B7D16}" srcId="{5F8E0C3A-3290-4C65-99A9-71B09B3C717F}" destId="{C4F26217-66C9-4163-9513-6B3FDAB24D82}" srcOrd="1" destOrd="0" parTransId="{564D2ADD-20DE-47DA-818E-75661481948B}" sibTransId="{068B4055-27A0-4F09-A1BE-38EC460A0F8A}"/>
    <dgm:cxn modelId="{8411D371-7706-493E-AA0E-E24A9888B426}" type="presOf" srcId="{F497587D-8D1B-4C6A-910D-0183B4E5B7F1}" destId="{17DB5307-2285-4924-988A-64BD557A8B93}" srcOrd="0" destOrd="0" presId="urn:microsoft.com/office/officeart/2005/8/layout/vList2"/>
    <dgm:cxn modelId="{85AB507C-411F-45E0-AD08-685466FB0A8D}" srcId="{5F8E0C3A-3290-4C65-99A9-71B09B3C717F}" destId="{EB914952-FE9F-4489-B3B9-9378B97E580F}" srcOrd="3" destOrd="0" parTransId="{6D73859B-C5CF-4861-9216-EA0496704B18}" sibTransId="{3981B218-97D7-4BDC-B7CF-1289D6FE85BC}"/>
    <dgm:cxn modelId="{599E5B99-C548-4015-8952-E035B3DFE5EA}" type="presOf" srcId="{C4F26217-66C9-4163-9513-6B3FDAB24D82}" destId="{BD6BD292-16D2-4F43-80D1-CF2FCD1EEB9C}" srcOrd="0" destOrd="0" presId="urn:microsoft.com/office/officeart/2005/8/layout/vList2"/>
    <dgm:cxn modelId="{29DDE7AD-9EDB-4FD5-B288-8304F5066A7F}" srcId="{5F8E0C3A-3290-4C65-99A9-71B09B3C717F}" destId="{C7FA3C0F-2ACE-4D59-81B8-8591FEE16ED3}" srcOrd="2" destOrd="0" parTransId="{3FCFC691-EDAE-48EF-8D8B-6A11FABB1D11}" sibTransId="{DB764CCC-C5FC-42D3-BE38-50C1C8184AAA}"/>
    <dgm:cxn modelId="{677654B7-4307-47E9-ADFA-09D0BCEB61F0}" type="presOf" srcId="{EB914952-FE9F-4489-B3B9-9378B97E580F}" destId="{BD9395F5-68C3-4EFF-9FB3-7EC6171024BF}" srcOrd="0" destOrd="0" presId="urn:microsoft.com/office/officeart/2005/8/layout/vList2"/>
    <dgm:cxn modelId="{2E1851B8-16CB-40AB-A495-96857D90B616}" type="presOf" srcId="{5F8E0C3A-3290-4C65-99A9-71B09B3C717F}" destId="{98C92638-6782-430C-B40F-D32336C00DFB}" srcOrd="0" destOrd="0" presId="urn:microsoft.com/office/officeart/2005/8/layout/vList2"/>
    <dgm:cxn modelId="{4E0EACB9-AD1E-4364-ADCC-0A4ADD178CE0}" type="presParOf" srcId="{98C92638-6782-430C-B40F-D32336C00DFB}" destId="{17DB5307-2285-4924-988A-64BD557A8B93}" srcOrd="0" destOrd="0" presId="urn:microsoft.com/office/officeart/2005/8/layout/vList2"/>
    <dgm:cxn modelId="{384F536B-AAA2-4A5F-AC44-E479557325AE}" type="presParOf" srcId="{98C92638-6782-430C-B40F-D32336C00DFB}" destId="{6298EE28-007A-4FE1-808C-A550995697BB}" srcOrd="1" destOrd="0" presId="urn:microsoft.com/office/officeart/2005/8/layout/vList2"/>
    <dgm:cxn modelId="{3E0A1C68-2A39-416F-B1A5-9AF598E89C08}" type="presParOf" srcId="{98C92638-6782-430C-B40F-D32336C00DFB}" destId="{BD6BD292-16D2-4F43-80D1-CF2FCD1EEB9C}" srcOrd="2" destOrd="0" presId="urn:microsoft.com/office/officeart/2005/8/layout/vList2"/>
    <dgm:cxn modelId="{B28D63B4-D57F-4C25-8D2D-3AF86CEB4431}" type="presParOf" srcId="{98C92638-6782-430C-B40F-D32336C00DFB}" destId="{23E32BE3-F124-4437-ABA0-696404590331}" srcOrd="3" destOrd="0" presId="urn:microsoft.com/office/officeart/2005/8/layout/vList2"/>
    <dgm:cxn modelId="{60E8E3C7-2A5A-4531-8794-B6C4AD1EE8AF}" type="presParOf" srcId="{98C92638-6782-430C-B40F-D32336C00DFB}" destId="{B44C7556-7D2D-4EA3-ABA7-14E5576DFEA6}" srcOrd="4" destOrd="0" presId="urn:microsoft.com/office/officeart/2005/8/layout/vList2"/>
    <dgm:cxn modelId="{664CD7EE-BC98-4278-9E9A-8E9B068CF7BC}" type="presParOf" srcId="{98C92638-6782-430C-B40F-D32336C00DFB}" destId="{EDB676B5-A776-4F82-9942-A1BBE09C88A0}" srcOrd="5" destOrd="0" presId="urn:microsoft.com/office/officeart/2005/8/layout/vList2"/>
    <dgm:cxn modelId="{34850CBD-B1CA-44BA-BEF6-4C28090083DA}" type="presParOf" srcId="{98C92638-6782-430C-B40F-D32336C00DFB}" destId="{BD9395F5-68C3-4EFF-9FB3-7EC6171024B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B5307-2285-4924-988A-64BD557A8B93}">
      <dsp:nvSpPr>
        <dsp:cNvPr id="0" name=""/>
        <dsp:cNvSpPr/>
      </dsp:nvSpPr>
      <dsp:spPr>
        <a:xfrm>
          <a:off x="0" y="582299"/>
          <a:ext cx="9804375"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err="1"/>
            <a:t>Hexbeam</a:t>
          </a:r>
          <a:r>
            <a:rPr lang="en-US" sz="3700" kern="1200" dirty="0"/>
            <a:t> (20m, 15m, 10m) </a:t>
          </a:r>
        </a:p>
      </dsp:txBody>
      <dsp:txXfrm>
        <a:off x="44378" y="626677"/>
        <a:ext cx="9715619" cy="820334"/>
      </dsp:txXfrm>
    </dsp:sp>
    <dsp:sp modelId="{BD6BD292-16D2-4F43-80D1-CF2FCD1EEB9C}">
      <dsp:nvSpPr>
        <dsp:cNvPr id="0" name=""/>
        <dsp:cNvSpPr/>
      </dsp:nvSpPr>
      <dsp:spPr>
        <a:xfrm>
          <a:off x="0" y="1597950"/>
          <a:ext cx="9804375"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OCF Dipole (80m – 6m)  132ft</a:t>
          </a:r>
        </a:p>
      </dsp:txBody>
      <dsp:txXfrm>
        <a:off x="44378" y="1642328"/>
        <a:ext cx="9715619" cy="820334"/>
      </dsp:txXfrm>
    </dsp:sp>
    <dsp:sp modelId="{B44C7556-7D2D-4EA3-ABA7-14E5576DFEA6}">
      <dsp:nvSpPr>
        <dsp:cNvPr id="0" name=""/>
        <dsp:cNvSpPr/>
      </dsp:nvSpPr>
      <dsp:spPr>
        <a:xfrm>
          <a:off x="0" y="2613600"/>
          <a:ext cx="9804375"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ZS6BKW (80m – 10m) </a:t>
          </a:r>
        </a:p>
      </dsp:txBody>
      <dsp:txXfrm>
        <a:off x="44378" y="2657978"/>
        <a:ext cx="9715619" cy="820334"/>
      </dsp:txXfrm>
    </dsp:sp>
    <dsp:sp modelId="{BD9395F5-68C3-4EFF-9FB3-7EC6171024BF}">
      <dsp:nvSpPr>
        <dsp:cNvPr id="0" name=""/>
        <dsp:cNvSpPr/>
      </dsp:nvSpPr>
      <dsp:spPr>
        <a:xfrm>
          <a:off x="0" y="3629250"/>
          <a:ext cx="9804375"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Rollup J-pole (VHF/UHF) on 30ft push-up mast</a:t>
          </a:r>
        </a:p>
      </dsp:txBody>
      <dsp:txXfrm>
        <a:off x="44378" y="3673628"/>
        <a:ext cx="9715619" cy="8203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0609-DBA7-5A33-464A-86562CD538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8CD7A2-BF84-0870-4297-948A97BAD9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DF9E52-05E2-FCAC-A944-657639BD64D2}"/>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323D796A-BD9B-4352-D9E9-31B575417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66BF0-EA53-DAA6-E626-72DE89641B03}"/>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2894552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94CB1-29A5-2759-1115-6737E69D6B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69BE6A-83BB-78D1-498A-48C1536439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06BF2-D3BF-E7E9-DD99-A6384A2B0272}"/>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F526D153-F47B-83C7-44D8-C61B2F87FA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26D2EC-D5CA-BA5B-C7E4-4E8E358F2346}"/>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197018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CC52-2F70-987C-7F32-F22F68F108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BBCD00-8731-80C0-1F6A-7450E8E56D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FD9045-DD83-A322-E7C7-B743621695F0}"/>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2DD1728F-2307-F610-CCCC-E9B8CCADF6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B56EB9-F1A7-1275-9E4C-85BAC2CA697F}"/>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1468746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40135-29EC-B56D-26FC-83F49DA6B2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98533F-11FC-3C38-B9DC-49183FE378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E8D969-65E5-A4D8-8764-F7A8FE62B0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51EABB-40A9-A2CC-8549-74AE938874FC}"/>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6" name="Footer Placeholder 5">
            <a:extLst>
              <a:ext uri="{FF2B5EF4-FFF2-40B4-BE49-F238E27FC236}">
                <a16:creationId xmlns:a16="http://schemas.microsoft.com/office/drawing/2014/main" id="{F5DC9522-E780-F669-5522-644A614EB3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AC989C-2CF6-8C77-A47B-CCAE03DACA42}"/>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265014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8BFC-3DE3-D265-CFA1-3037E3A262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504BDB-4572-AE18-5BA6-77B8688AB6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AAC640-06ED-16DB-8E8A-B1386ABE21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2C426D-0DD7-9203-7DEC-CC0A91956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671AF9-1472-5573-2888-FE33AB85DA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6CF7C2-4085-0762-8F64-6AFCE0AA1C6A}"/>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8" name="Footer Placeholder 7">
            <a:extLst>
              <a:ext uri="{FF2B5EF4-FFF2-40B4-BE49-F238E27FC236}">
                <a16:creationId xmlns:a16="http://schemas.microsoft.com/office/drawing/2014/main" id="{03A30C18-9456-B5F8-51AF-49968F3A81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649E74-0AFD-E7C7-62CF-007E55D0C0B1}"/>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2263795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8D9F-B6C0-08CE-91C7-6DF74A8CD0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91208A-48F8-2795-1176-0E82BDE1CD19}"/>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4" name="Footer Placeholder 3">
            <a:extLst>
              <a:ext uri="{FF2B5EF4-FFF2-40B4-BE49-F238E27FC236}">
                <a16:creationId xmlns:a16="http://schemas.microsoft.com/office/drawing/2014/main" id="{ACB00ED4-0B5B-192E-8D95-9CB7DFAD33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237339-C12A-1D17-5A20-9EEFAB3AF108}"/>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405786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2C908-8FF4-0897-9E10-602DEC274DF0}"/>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3" name="Footer Placeholder 2">
            <a:extLst>
              <a:ext uri="{FF2B5EF4-FFF2-40B4-BE49-F238E27FC236}">
                <a16:creationId xmlns:a16="http://schemas.microsoft.com/office/drawing/2014/main" id="{87F1A578-EBF8-40FC-F92A-08F086EC0D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1E7DBE-3090-3B22-64F7-1CF9BC20AF87}"/>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4130675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1E57-26CF-E371-AB24-9F62A3902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6F2508-8642-AB51-CC0A-940EAA320C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671B2E-602D-CBC2-FFD7-CC580E9CD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84CA4-63E8-CF94-D32E-02B8CFBDE8AF}"/>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6" name="Footer Placeholder 5">
            <a:extLst>
              <a:ext uri="{FF2B5EF4-FFF2-40B4-BE49-F238E27FC236}">
                <a16:creationId xmlns:a16="http://schemas.microsoft.com/office/drawing/2014/main" id="{503E267B-09B2-4930-030F-AA509EB3F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C28B1-AFDC-6DEF-5D28-6F94B94B2CC0}"/>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23144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D1C90-C017-8758-CE9A-EB4D47B06A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B6534E-B31C-BBE8-C6D7-BA2F48604B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5FE062-5274-31DB-747B-A0BB25FE9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B93050-A505-8F1E-52C9-6F0643B5F3E6}"/>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6" name="Footer Placeholder 5">
            <a:extLst>
              <a:ext uri="{FF2B5EF4-FFF2-40B4-BE49-F238E27FC236}">
                <a16:creationId xmlns:a16="http://schemas.microsoft.com/office/drawing/2014/main" id="{FBC7F069-F579-1966-CFC0-F3ED03D4A5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8F2FC-4661-1F4B-D358-312FDA9CFB69}"/>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2605867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7131-D6CA-6783-5D38-856EEB3311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B53FA5-2EC8-2E16-3DEB-64C6C31C73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774CB-F1C0-574B-3E73-EF6F537DA7D1}"/>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04D456BB-A622-BC0E-4843-0E6917841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B63DF9-C612-A93A-D8AB-B926B9095347}"/>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834835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F6F41-6E60-8677-A5EA-2EFDE9EC70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AADFEB-BA2A-E64A-F601-4CA5FC0180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2E1553-B635-28DF-7270-BBEF66ADB93E}"/>
              </a:ext>
            </a:extLst>
          </p:cNvPr>
          <p:cNvSpPr>
            <a:spLocks noGrp="1"/>
          </p:cNvSpPr>
          <p:nvPr>
            <p:ph type="dt" sz="half" idx="10"/>
          </p:nvPr>
        </p:nvSpPr>
        <p:spPr/>
        <p:txBody>
          <a:body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8224D469-6AED-30B1-A8BA-EB51FD97F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3A0B0-4D51-5241-0DF3-96F18D63A81B}"/>
              </a:ext>
            </a:extLst>
          </p:cNvPr>
          <p:cNvSpPr>
            <a:spLocks noGrp="1"/>
          </p:cNvSpPr>
          <p:nvPr>
            <p:ph type="sldNum" sz="quarter" idx="12"/>
          </p:nvPr>
        </p:nvSpPr>
        <p:spPr/>
        <p:txBody>
          <a:bodyPr/>
          <a:lstStyle/>
          <a:p>
            <a:fld id="{6835AA8F-681C-445E-A5AB-52A238043410}" type="slidenum">
              <a:rPr lang="en-US" smtClean="0"/>
              <a:t>‹#›</a:t>
            </a:fld>
            <a:endParaRPr lang="en-US"/>
          </a:p>
        </p:txBody>
      </p:sp>
    </p:spTree>
    <p:extLst>
      <p:ext uri="{BB962C8B-B14F-4D97-AF65-F5344CB8AC3E}">
        <p14:creationId xmlns:p14="http://schemas.microsoft.com/office/powerpoint/2010/main" val="1381562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E8789E-83B4-845E-1793-059022925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091470-1D83-4AB5-9821-DF0173056D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3E4D7B-8A8A-53AB-1B00-D59120F87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961B15-798A-48E1-A534-1C1AA760FEA9}" type="datetimeFigureOut">
              <a:rPr lang="en-US" smtClean="0"/>
              <a:t>5/19/2026</a:t>
            </a:fld>
            <a:endParaRPr lang="en-US"/>
          </a:p>
        </p:txBody>
      </p:sp>
      <p:sp>
        <p:nvSpPr>
          <p:cNvPr id="5" name="Footer Placeholder 4">
            <a:extLst>
              <a:ext uri="{FF2B5EF4-FFF2-40B4-BE49-F238E27FC236}">
                <a16:creationId xmlns:a16="http://schemas.microsoft.com/office/drawing/2014/main" id="{41BA0662-2E51-19E2-811C-AB3B0EFAEC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3A443C-3197-4883-45A6-7800451175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35AA8F-681C-445E-A5AB-52A238043410}" type="slidenum">
              <a:rPr lang="en-US" smtClean="0"/>
              <a:t>‹#›</a:t>
            </a:fld>
            <a:endParaRPr lang="en-US"/>
          </a:p>
        </p:txBody>
      </p:sp>
    </p:spTree>
    <p:extLst>
      <p:ext uri="{BB962C8B-B14F-4D97-AF65-F5344CB8AC3E}">
        <p14:creationId xmlns:p14="http://schemas.microsoft.com/office/powerpoint/2010/main" val="2462170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uparc.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eld Day Pin 2026">
            <a:extLst>
              <a:ext uri="{FF2B5EF4-FFF2-40B4-BE49-F238E27FC236}">
                <a16:creationId xmlns:a16="http://schemas.microsoft.com/office/drawing/2014/main" id="{81CFEB94-DDCD-6CA3-A604-2BD96FC12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152" y="822152"/>
            <a:ext cx="5213696" cy="5213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024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E2D97-C03C-7277-255A-2F643ADD0E8B}"/>
              </a:ext>
            </a:extLst>
          </p:cNvPr>
          <p:cNvSpPr>
            <a:spLocks noGrp="1"/>
          </p:cNvSpPr>
          <p:nvPr>
            <p:ph type="title"/>
          </p:nvPr>
        </p:nvSpPr>
        <p:spPr>
          <a:xfrm>
            <a:off x="653903" y="322595"/>
            <a:ext cx="10515600" cy="939135"/>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What is ARRL Field Day?</a:t>
            </a:r>
          </a:p>
        </p:txBody>
      </p:sp>
      <p:sp>
        <p:nvSpPr>
          <p:cNvPr id="3" name="Content Placeholder 2">
            <a:extLst>
              <a:ext uri="{FF2B5EF4-FFF2-40B4-BE49-F238E27FC236}">
                <a16:creationId xmlns:a16="http://schemas.microsoft.com/office/drawing/2014/main" id="{60736D36-C3D7-78CE-A593-41A0BE7DAE53}"/>
              </a:ext>
            </a:extLst>
          </p:cNvPr>
          <p:cNvSpPr>
            <a:spLocks noGrp="1"/>
          </p:cNvSpPr>
          <p:nvPr>
            <p:ph idx="1"/>
          </p:nvPr>
        </p:nvSpPr>
        <p:spPr>
          <a:xfrm>
            <a:off x="838200" y="1368056"/>
            <a:ext cx="10515600" cy="5167349"/>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Field Day is ham radio’s “open house”. </a:t>
            </a:r>
          </a:p>
          <a:p>
            <a:r>
              <a:rPr lang="en-US" dirty="0">
                <a:latin typeface="Calibri" panose="020F0502020204030204" pitchFamily="34" charset="0"/>
                <a:ea typeface="Calibri" panose="020F0502020204030204" pitchFamily="34" charset="0"/>
                <a:cs typeface="Calibri" panose="020F0502020204030204" pitchFamily="34" charset="0"/>
              </a:rPr>
              <a:t>ARRL Field Day is a combined event to test our ability to setup radio communication under less than ideal conditions–think temporary antennas, generators and radio gear.</a:t>
            </a:r>
          </a:p>
          <a:p>
            <a:r>
              <a:rPr lang="en-US" dirty="0">
                <a:latin typeface="Calibri" panose="020F0502020204030204" pitchFamily="34" charset="0"/>
                <a:ea typeface="Calibri" panose="020F0502020204030204" pitchFamily="34" charset="0"/>
                <a:cs typeface="Calibri" panose="020F0502020204030204" pitchFamily="34" charset="0"/>
              </a:rPr>
              <a:t>Every June, more than 40,000 hams throughout North America set up temporary transmitting stations in public places to demonstrate ham radio's science, skill and service to our communities and our nation. </a:t>
            </a:r>
          </a:p>
          <a:p>
            <a:r>
              <a:rPr lang="en-US" dirty="0">
                <a:latin typeface="Calibri" panose="020F0502020204030204" pitchFamily="34" charset="0"/>
                <a:ea typeface="Calibri" panose="020F0502020204030204" pitchFamily="34" charset="0"/>
                <a:cs typeface="Calibri" panose="020F0502020204030204" pitchFamily="34" charset="0"/>
              </a:rPr>
              <a:t>It combines public service, emergency preparedness, community outreach, and technical skills all in a single event. </a:t>
            </a:r>
          </a:p>
          <a:p>
            <a:r>
              <a:rPr lang="en-US" dirty="0">
                <a:latin typeface="Calibri" panose="020F0502020204030204" pitchFamily="34" charset="0"/>
                <a:ea typeface="Calibri" panose="020F0502020204030204" pitchFamily="34" charset="0"/>
                <a:cs typeface="Calibri" panose="020F0502020204030204" pitchFamily="34" charset="0"/>
              </a:rPr>
              <a:t>Field Day has been an annual event since 1933 and remains the most popular event in ham radio.</a:t>
            </a:r>
          </a:p>
        </p:txBody>
      </p:sp>
    </p:spTree>
    <p:extLst>
      <p:ext uri="{BB962C8B-B14F-4D97-AF65-F5344CB8AC3E}">
        <p14:creationId xmlns:p14="http://schemas.microsoft.com/office/powerpoint/2010/main" val="2121824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90141-7617-B394-DDE0-6EBCBBFD9E1A}"/>
              </a:ext>
            </a:extLst>
          </p:cNvPr>
          <p:cNvSpPr>
            <a:spLocks noGrp="1"/>
          </p:cNvSpPr>
          <p:nvPr>
            <p:ph idx="1"/>
          </p:nvPr>
        </p:nvSpPr>
        <p:spPr>
          <a:xfrm>
            <a:off x="859412" y="391112"/>
            <a:ext cx="10473176" cy="6075776"/>
          </a:xfrm>
        </p:spPr>
        <p:txBody>
          <a:bodyPr>
            <a:normAutofit lnSpcReduction="10000"/>
          </a:bodyPr>
          <a:lstStyle/>
          <a:p>
            <a:r>
              <a:rPr lang="en-US" sz="2400" b="1" dirty="0">
                <a:solidFill>
                  <a:srgbClr val="FF0000"/>
                </a:solidFill>
                <a:latin typeface="Calibri" panose="020F0502020204030204" pitchFamily="34" charset="0"/>
                <a:cs typeface="Calibri" panose="020F0502020204030204" pitchFamily="34" charset="0"/>
              </a:rPr>
              <a:t>WHEN: June 27-28  (Saturday – Sunday)</a:t>
            </a:r>
          </a:p>
          <a:p>
            <a:r>
              <a:rPr lang="en-US" sz="2400" dirty="0">
                <a:solidFill>
                  <a:schemeClr val="tx1"/>
                </a:solidFill>
                <a:latin typeface="Calibri" panose="020F0502020204030204" pitchFamily="34" charset="0"/>
                <a:cs typeface="Calibri" panose="020F0502020204030204" pitchFamily="34" charset="0"/>
              </a:rPr>
              <a:t>WHERE: CARS fire station location</a:t>
            </a:r>
          </a:p>
          <a:p>
            <a:pPr lvl="1"/>
            <a:r>
              <a:rPr lang="en-US" dirty="0">
                <a:solidFill>
                  <a:schemeClr val="tx1"/>
                </a:solidFill>
                <a:latin typeface="Calibri" panose="020F0502020204030204" pitchFamily="34" charset="0"/>
                <a:cs typeface="Calibri" panose="020F0502020204030204" pitchFamily="34" charset="0"/>
              </a:rPr>
              <a:t>Clearwater Fire Station #48, 1700 N Belcher Rd., Clearwater, FL 33765, USA</a:t>
            </a:r>
          </a:p>
          <a:p>
            <a:r>
              <a:rPr lang="en-US" sz="2400" dirty="0">
                <a:latin typeface="Calibri" panose="020F0502020204030204" pitchFamily="34" charset="0"/>
                <a:cs typeface="Calibri" panose="020F0502020204030204" pitchFamily="34" charset="0"/>
              </a:rPr>
              <a:t>SETUP begins: 8AM Saturday (lunch is around Noon)</a:t>
            </a:r>
          </a:p>
          <a:p>
            <a:r>
              <a:rPr lang="en-US" sz="2400" dirty="0">
                <a:latin typeface="Calibri" panose="020F0502020204030204" pitchFamily="34" charset="0"/>
                <a:cs typeface="Calibri" panose="020F0502020204030204" pitchFamily="34" charset="0"/>
              </a:rPr>
              <a:t>OPERATE: 2PM Sat thru 2PM Sun</a:t>
            </a:r>
          </a:p>
          <a:p>
            <a:r>
              <a:rPr lang="en-US" sz="2400" dirty="0">
                <a:latin typeface="Calibri" panose="020F0502020204030204" pitchFamily="34" charset="0"/>
                <a:cs typeface="Calibri" panose="020F0502020204030204" pitchFamily="34" charset="0"/>
              </a:rPr>
              <a:t>TEARDOWN: 2PM Sunday</a:t>
            </a:r>
          </a:p>
          <a:p>
            <a:r>
              <a:rPr lang="en-US" sz="2400" dirty="0">
                <a:latin typeface="Calibri" panose="020F0502020204030204" pitchFamily="34" charset="0"/>
                <a:cs typeface="Calibri" panose="020F0502020204030204" pitchFamily="34" charset="0"/>
              </a:rPr>
              <a:t>UPARC, SPARC. WORMs &amp; CARS joint event (and looking like a big turnout so far!)</a:t>
            </a:r>
          </a:p>
          <a:p>
            <a:r>
              <a:rPr lang="en-US" sz="2400" dirty="0">
                <a:latin typeface="Calibri" panose="020F0502020204030204" pitchFamily="34" charset="0"/>
                <a:cs typeface="Calibri" panose="020F0502020204030204" pitchFamily="34" charset="0"/>
              </a:rPr>
              <a:t>Contest Callsign: </a:t>
            </a:r>
            <a:r>
              <a:rPr lang="en-US" sz="2400" b="1" dirty="0">
                <a:solidFill>
                  <a:srgbClr val="0070C0"/>
                </a:solidFill>
                <a:latin typeface="Calibri" panose="020F0502020204030204" pitchFamily="34" charset="0"/>
                <a:cs typeface="Calibri" panose="020F0502020204030204" pitchFamily="34" charset="0"/>
              </a:rPr>
              <a:t>W4TA</a:t>
            </a:r>
            <a:endParaRPr lang="en-US" sz="2400" dirty="0">
              <a:solidFill>
                <a:schemeClr val="tx1"/>
              </a:solidFill>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Operation will be Indoors (except for Satellite ops)</a:t>
            </a:r>
          </a:p>
          <a:p>
            <a:r>
              <a:rPr lang="en-US" sz="2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For sanitary reasons, we do not share headphones or microphone headsets</a:t>
            </a:r>
          </a:p>
          <a:p>
            <a:pPr lvl="1"/>
            <a:r>
              <a:rPr lang="en-US" sz="2000" dirty="0">
                <a:latin typeface="Calibri" panose="020F0502020204030204" pitchFamily="34" charset="0"/>
                <a:ea typeface="Calibri" panose="020F0502020204030204" pitchFamily="34" charset="0"/>
                <a:cs typeface="Calibri" panose="020F0502020204030204" pitchFamily="34" charset="0"/>
              </a:rPr>
              <a:t>Please bring your own headset gear, must be wired and fit 3.5mm or 1/4in plugs</a:t>
            </a:r>
          </a:p>
          <a:p>
            <a:r>
              <a:rPr lang="en-US" sz="2400" dirty="0">
                <a:latin typeface="Calibri" panose="020F0502020204030204" pitchFamily="34" charset="0"/>
                <a:cs typeface="Calibri" panose="020F0502020204030204" pitchFamily="34" charset="0"/>
              </a:rPr>
              <a:t>More Info – see UPARC website Field Day article (thanks Tom NY4I)</a:t>
            </a:r>
          </a:p>
          <a:p>
            <a:endParaRPr lang="en-US" sz="2400" dirty="0">
              <a:latin typeface="Calibri" panose="020F0502020204030204" pitchFamily="34" charset="0"/>
              <a:cs typeface="Calibri" panose="020F0502020204030204" pitchFamily="34" charset="0"/>
            </a:endParaRPr>
          </a:p>
          <a:p>
            <a:r>
              <a:rPr lang="en-US" sz="2400" b="1" dirty="0">
                <a:solidFill>
                  <a:srgbClr val="FF0000"/>
                </a:solidFill>
                <a:latin typeface="Calibri" panose="020F0502020204030204" pitchFamily="34" charset="0"/>
                <a:cs typeface="Calibri" panose="020F0502020204030204" pitchFamily="34" charset="0"/>
              </a:rPr>
              <a:t>SIGNUP: </a:t>
            </a:r>
            <a:r>
              <a:rPr lang="en-US" sz="2400" b="1" dirty="0">
                <a:solidFill>
                  <a:srgbClr val="FF0000"/>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www.uparc.org</a:t>
            </a:r>
            <a:r>
              <a:rPr lang="en-US" sz="2400" b="1" dirty="0">
                <a:solidFill>
                  <a:srgbClr val="FF0000"/>
                </a:solidFill>
                <a:latin typeface="Calibri" panose="020F0502020204030204" pitchFamily="34" charset="0"/>
                <a:cs typeface="Calibri" panose="020F0502020204030204" pitchFamily="34" charset="0"/>
              </a:rPr>
              <a:t> (</a:t>
            </a:r>
            <a:r>
              <a:rPr lang="en-US" sz="2400" b="1" i="1" dirty="0">
                <a:solidFill>
                  <a:srgbClr val="FF0000"/>
                </a:solidFill>
                <a:latin typeface="Calibri" panose="020F0502020204030204" pitchFamily="34" charset="0"/>
                <a:cs typeface="Calibri" panose="020F0502020204030204" pitchFamily="34" charset="0"/>
              </a:rPr>
              <a:t>please</a:t>
            </a:r>
            <a:r>
              <a:rPr lang="en-US" sz="2400" b="1" dirty="0">
                <a:solidFill>
                  <a:srgbClr val="FF0000"/>
                </a:solidFill>
                <a:latin typeface="Calibri" panose="020F0502020204030204" pitchFamily="34" charset="0"/>
                <a:cs typeface="Calibri" panose="020F0502020204030204" pitchFamily="34" charset="0"/>
              </a:rPr>
              <a:t> signup NLT June 20)</a:t>
            </a:r>
          </a:p>
        </p:txBody>
      </p:sp>
      <p:sp>
        <p:nvSpPr>
          <p:cNvPr id="2" name="Rectangle: Rounded Corners 1">
            <a:extLst>
              <a:ext uri="{FF2B5EF4-FFF2-40B4-BE49-F238E27FC236}">
                <a16:creationId xmlns:a16="http://schemas.microsoft.com/office/drawing/2014/main" id="{597EA39B-14BE-6566-3784-CBBAAFE60761}"/>
              </a:ext>
            </a:extLst>
          </p:cNvPr>
          <p:cNvSpPr/>
          <p:nvPr/>
        </p:nvSpPr>
        <p:spPr>
          <a:xfrm rot="19918928">
            <a:off x="8537183" y="697890"/>
            <a:ext cx="2913304" cy="1625005"/>
          </a:xfrm>
          <a:prstGeom prst="roundRect">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t>ANY UPDATES NEEDED?</a:t>
            </a:r>
          </a:p>
        </p:txBody>
      </p:sp>
    </p:spTree>
    <p:extLst>
      <p:ext uri="{BB962C8B-B14F-4D97-AF65-F5344CB8AC3E}">
        <p14:creationId xmlns:p14="http://schemas.microsoft.com/office/powerpoint/2010/main" val="2354764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0" y="-1"/>
            <a:ext cx="1218895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361953" cy="2470488"/>
          </a:xfrm>
        </p:spPr>
        <p:txBody>
          <a:bodyPr vert="horz" lIns="91440" tIns="45720" rIns="91440" bIns="45720" rtlCol="0" anchor="ctr">
            <a:normAutofit/>
          </a:bodyPr>
          <a:lstStyle/>
          <a:p>
            <a:r>
              <a:rPr lang="en-US" sz="4800" b="1" spc="-100" dirty="0">
                <a:solidFill>
                  <a:schemeClr val="tx1"/>
                </a:solidFill>
                <a:latin typeface="Calibri" panose="020F0502020204030204" pitchFamily="34" charset="0"/>
                <a:cs typeface="Calibri" panose="020F0502020204030204" pitchFamily="34" charset="0"/>
              </a:rPr>
              <a:t>Operating Modes &amp; Bands</a:t>
            </a:r>
            <a:endParaRPr lang="en-US" sz="4400" b="1" spc="-1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6725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F8D588-86CB-DFC0-157F-6987E18B0AE4}"/>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6FF657F-0520-3A9C-3D65-67C384187EA1}"/>
              </a:ext>
            </a:extLst>
          </p:cNvPr>
          <p:cNvPicPr>
            <a:picLocks noChangeAspect="1"/>
          </p:cNvPicPr>
          <p:nvPr/>
        </p:nvPicPr>
        <p:blipFill>
          <a:blip r:embed="rId2"/>
          <a:srcRect t="511" r="1" b="1"/>
          <a:stretch>
            <a:fillRect/>
          </a:stretch>
        </p:blipFill>
        <p:spPr>
          <a:xfrm>
            <a:off x="279143" y="299509"/>
            <a:ext cx="5221625" cy="6258983"/>
          </a:xfrm>
          <a:prstGeom prst="rect">
            <a:avLst/>
          </a:prstGeom>
        </p:spPr>
      </p:pic>
      <p:sp>
        <p:nvSpPr>
          <p:cNvPr id="3" name="Content Placeholder 2">
            <a:extLst>
              <a:ext uri="{FF2B5EF4-FFF2-40B4-BE49-F238E27FC236}">
                <a16:creationId xmlns:a16="http://schemas.microsoft.com/office/drawing/2014/main" id="{7038D2CE-F726-6969-E769-4D22F575C6DD}"/>
              </a:ext>
            </a:extLst>
          </p:cNvPr>
          <p:cNvSpPr>
            <a:spLocks noGrp="1"/>
          </p:cNvSpPr>
          <p:nvPr>
            <p:ph idx="1"/>
          </p:nvPr>
        </p:nvSpPr>
        <p:spPr>
          <a:xfrm>
            <a:off x="6392583" y="1360800"/>
            <a:ext cx="5005016" cy="4995549"/>
          </a:xfrm>
        </p:spPr>
        <p:txBody>
          <a:bodyPr anchor="t">
            <a:normAutofit/>
          </a:bodyPr>
          <a:lstStyle/>
          <a:p>
            <a:pPr marL="0" indent="0">
              <a:buNone/>
            </a:pPr>
            <a:r>
              <a:rPr lang="en-US" b="1" dirty="0">
                <a:solidFill>
                  <a:schemeClr val="tx1">
                    <a:alpha val="80000"/>
                  </a:schemeClr>
                </a:solidFill>
                <a:latin typeface="Calibri" panose="020F0502020204030204" pitchFamily="34" charset="0"/>
                <a:cs typeface="Calibri" panose="020F0502020204030204" pitchFamily="34" charset="0"/>
              </a:rPr>
              <a:t>The following modes &amp; bands are planned to be run at the 2025 ARRL Field Day event:</a:t>
            </a:r>
          </a:p>
          <a:p>
            <a:pPr marL="0" indent="0">
              <a:buNone/>
            </a:pPr>
            <a:endParaRPr lang="en-US" b="1" dirty="0">
              <a:solidFill>
                <a:schemeClr val="tx1">
                  <a:alpha val="80000"/>
                </a:schemeClr>
              </a:solidFill>
              <a:latin typeface="Calibri" panose="020F0502020204030204" pitchFamily="34" charset="0"/>
              <a:cs typeface="Calibri" panose="020F0502020204030204" pitchFamily="34" charset="0"/>
            </a:endParaRPr>
          </a:p>
          <a:p>
            <a:r>
              <a:rPr lang="en-US" sz="3200" b="1" dirty="0">
                <a:solidFill>
                  <a:schemeClr val="tx1">
                    <a:alpha val="80000"/>
                  </a:schemeClr>
                </a:solidFill>
                <a:latin typeface="Calibri" panose="020F0502020204030204" pitchFamily="34" charset="0"/>
                <a:cs typeface="Calibri" panose="020F0502020204030204" pitchFamily="34" charset="0"/>
              </a:rPr>
              <a:t>CW</a:t>
            </a:r>
          </a:p>
          <a:p>
            <a:r>
              <a:rPr lang="en-US" sz="3200" b="1"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SSB</a:t>
            </a:r>
          </a:p>
          <a:p>
            <a:r>
              <a:rPr lang="en-US" sz="3200" b="1"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FT8</a:t>
            </a:r>
          </a:p>
          <a:p>
            <a:r>
              <a:rPr lang="en-US" sz="3200" b="1"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6m – 80m</a:t>
            </a:r>
          </a:p>
        </p:txBody>
      </p:sp>
      <p:cxnSp>
        <p:nvCxnSpPr>
          <p:cNvPr id="40" name="Straight Connector 3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901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C90B8-B49A-1BFF-6EEC-EDB70A7EEABF}"/>
            </a:ext>
          </a:extLst>
        </p:cNvPr>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AEBBE62E-C8C7-3A75-4DB6-3F536FEBD42F}"/>
              </a:ext>
            </a:extLst>
          </p:cNvPr>
          <p:cNvPicPr>
            <a:picLocks noChangeAspect="1"/>
          </p:cNvPicPr>
          <p:nvPr/>
        </p:nvPicPr>
        <p:blipFill rotWithShape="1">
          <a:blip r:embed="rId2"/>
          <a:srcRect t="15709" r="-1" b="-1"/>
          <a:stretch/>
        </p:blipFill>
        <p:spPr>
          <a:xfrm>
            <a:off x="0" y="-1"/>
            <a:ext cx="12188952" cy="6858000"/>
          </a:xfrm>
          <a:prstGeom prst="rect">
            <a:avLst/>
          </a:prstGeom>
        </p:spPr>
      </p:pic>
      <p:sp>
        <p:nvSpPr>
          <p:cNvPr id="2" name="Title 1">
            <a:extLst>
              <a:ext uri="{FF2B5EF4-FFF2-40B4-BE49-F238E27FC236}">
                <a16:creationId xmlns:a16="http://schemas.microsoft.com/office/drawing/2014/main" id="{82242E1D-B0A8-317C-7868-EA5941FE8465}"/>
              </a:ext>
            </a:extLst>
          </p:cNvPr>
          <p:cNvSpPr>
            <a:spLocks noGrp="1"/>
          </p:cNvSpPr>
          <p:nvPr>
            <p:ph type="title"/>
          </p:nvPr>
        </p:nvSpPr>
        <p:spPr>
          <a:xfrm>
            <a:off x="334557" y="1653703"/>
            <a:ext cx="3361953" cy="2470488"/>
          </a:xfrm>
        </p:spPr>
        <p:txBody>
          <a:bodyPr vert="horz" lIns="91440" tIns="45720" rIns="91440" bIns="45720" rtlCol="0" anchor="ctr">
            <a:normAutofit/>
          </a:bodyPr>
          <a:lstStyle/>
          <a:p>
            <a:r>
              <a:rPr lang="en-US" sz="4800" b="1" spc="-100" dirty="0">
                <a:solidFill>
                  <a:schemeClr val="tx1"/>
                </a:solidFill>
                <a:latin typeface="Calibri" panose="020F0502020204030204" pitchFamily="34" charset="0"/>
                <a:cs typeface="Calibri" panose="020F0502020204030204" pitchFamily="34" charset="0"/>
              </a:rPr>
              <a:t>Station Gear</a:t>
            </a:r>
            <a:endParaRPr lang="en-US" sz="4400" b="1" spc="-1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7552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6E5D54A-E5E3-A761-5924-307EBA9A059E}"/>
              </a:ext>
            </a:extLst>
          </p:cNvPr>
          <p:cNvSpPr txBox="1"/>
          <p:nvPr/>
        </p:nvSpPr>
        <p:spPr>
          <a:xfrm>
            <a:off x="371094" y="1161288"/>
            <a:ext cx="3438144" cy="12390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a:solidFill>
                  <a:schemeClr val="tx1"/>
                </a:solidFill>
                <a:latin typeface="+mj-lt"/>
                <a:ea typeface="+mj-ea"/>
                <a:cs typeface="+mj-cs"/>
              </a:rPr>
              <a:t>Radios to be used</a:t>
            </a: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89EF989-0806-797E-1B4D-19AC0104DA59}"/>
              </a:ext>
            </a:extLst>
          </p:cNvPr>
          <p:cNvSpPr txBox="1"/>
          <p:nvPr/>
        </p:nvSpPr>
        <p:spPr>
          <a:xfrm>
            <a:off x="371094" y="2718054"/>
            <a:ext cx="3618798"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Elecraft K3 #1 = SSB **</a:t>
            </a:r>
          </a:p>
          <a:p>
            <a:pPr indent="-228600">
              <a:lnSpc>
                <a:spcPct val="90000"/>
              </a:lnSpc>
              <a:spcAft>
                <a:spcPts val="600"/>
              </a:spcAft>
              <a:buFont typeface="Arial" panose="020B0604020202020204" pitchFamily="34" charset="0"/>
              <a:buChar char="•"/>
            </a:pPr>
            <a:r>
              <a:rPr lang="en-US" sz="2000" dirty="0"/>
              <a:t>Elecraft K3S #2 = FT8 **</a:t>
            </a:r>
          </a:p>
          <a:p>
            <a:pPr indent="-228600">
              <a:lnSpc>
                <a:spcPct val="90000"/>
              </a:lnSpc>
              <a:spcAft>
                <a:spcPts val="600"/>
              </a:spcAft>
              <a:buFont typeface="Arial" panose="020B0604020202020204" pitchFamily="34" charset="0"/>
              <a:buChar char="•"/>
            </a:pPr>
            <a:r>
              <a:rPr lang="en-US" sz="2000" dirty="0"/>
              <a:t>Elecraft K3 #3 = SSB or CW **</a:t>
            </a:r>
          </a:p>
          <a:p>
            <a:pPr indent="-228600">
              <a:lnSpc>
                <a:spcPct val="90000"/>
              </a:lnSpc>
              <a:spcAft>
                <a:spcPts val="600"/>
              </a:spcAft>
              <a:buFont typeface="Arial" panose="020B0604020202020204" pitchFamily="34" charset="0"/>
              <a:buChar char="•"/>
            </a:pPr>
            <a:endParaRPr lang="en-US" sz="1700" i="1" dirty="0"/>
          </a:p>
          <a:p>
            <a:pPr>
              <a:lnSpc>
                <a:spcPct val="90000"/>
              </a:lnSpc>
              <a:spcAft>
                <a:spcPts val="600"/>
              </a:spcAft>
            </a:pPr>
            <a:r>
              <a:rPr lang="en-US" sz="1600" i="1" dirty="0"/>
              <a:t>** - Primary mode of operation, will be capable of other modes if conditions dictate</a:t>
            </a:r>
          </a:p>
        </p:txBody>
      </p:sp>
      <p:pic>
        <p:nvPicPr>
          <p:cNvPr id="2" name="Picture 1">
            <a:extLst>
              <a:ext uri="{FF2B5EF4-FFF2-40B4-BE49-F238E27FC236}">
                <a16:creationId xmlns:a16="http://schemas.microsoft.com/office/drawing/2014/main" id="{7E5066DD-410B-CA20-E296-B408CE4FC95D}"/>
              </a:ext>
            </a:extLst>
          </p:cNvPr>
          <p:cNvPicPr>
            <a:picLocks noChangeAspect="1"/>
          </p:cNvPicPr>
          <p:nvPr/>
        </p:nvPicPr>
        <p:blipFill>
          <a:blip r:embed="rId2"/>
          <a:stretch>
            <a:fillRect/>
          </a:stretch>
        </p:blipFill>
        <p:spPr>
          <a:xfrm>
            <a:off x="3989893" y="1512576"/>
            <a:ext cx="7977299" cy="3410295"/>
          </a:xfrm>
          <a:prstGeom prst="rect">
            <a:avLst/>
          </a:prstGeom>
        </p:spPr>
      </p:pic>
      <p:sp>
        <p:nvSpPr>
          <p:cNvPr id="3" name="Rectangle: Rounded Corners 2">
            <a:extLst>
              <a:ext uri="{FF2B5EF4-FFF2-40B4-BE49-F238E27FC236}">
                <a16:creationId xmlns:a16="http://schemas.microsoft.com/office/drawing/2014/main" id="{7ACBF489-7D4C-D2C8-0AA7-C28932AC7A8A}"/>
              </a:ext>
            </a:extLst>
          </p:cNvPr>
          <p:cNvSpPr/>
          <p:nvPr/>
        </p:nvSpPr>
        <p:spPr>
          <a:xfrm rot="19918928">
            <a:off x="2458237" y="4142057"/>
            <a:ext cx="3276600" cy="1817914"/>
          </a:xfrm>
          <a:prstGeom prst="roundRect">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t>ANY UPDATES NEEDED?</a:t>
            </a:r>
          </a:p>
        </p:txBody>
      </p:sp>
    </p:spTree>
    <p:extLst>
      <p:ext uri="{BB962C8B-B14F-4D97-AF65-F5344CB8AC3E}">
        <p14:creationId xmlns:p14="http://schemas.microsoft.com/office/powerpoint/2010/main" val="150884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4FB2E-26C0-B904-4A34-BA1864EE3FB6}"/>
              </a:ext>
            </a:extLst>
          </p:cNvPr>
          <p:cNvSpPr txBox="1"/>
          <p:nvPr/>
        </p:nvSpPr>
        <p:spPr>
          <a:xfrm>
            <a:off x="558042" y="242149"/>
            <a:ext cx="10825883" cy="1323439"/>
          </a:xfrm>
          <a:prstGeom prst="rect">
            <a:avLst/>
          </a:prstGeom>
          <a:noFill/>
        </p:spPr>
        <p:txBody>
          <a:bodyPr wrap="square" rtlCol="0">
            <a:spAutoFit/>
          </a:bodyPr>
          <a:lstStyle/>
          <a:p>
            <a:r>
              <a:rPr lang="en-US" sz="4000" b="1" dirty="0">
                <a:latin typeface="Calibri" panose="020F0502020204030204" pitchFamily="34" charset="0"/>
                <a:cs typeface="Calibri" panose="020F0502020204030204" pitchFamily="34" charset="0"/>
              </a:rPr>
              <a:t>Satellite Station - </a:t>
            </a:r>
            <a:r>
              <a:rPr lang="en-US" sz="4000" dirty="0">
                <a:latin typeface="Calibri" panose="020F0502020204030204" pitchFamily="34" charset="0"/>
                <a:cs typeface="Calibri" panose="020F0502020204030204" pitchFamily="34" charset="0"/>
              </a:rPr>
              <a:t>ICOM 9700, </a:t>
            </a:r>
            <a:r>
              <a:rPr lang="en-US" sz="4000" dirty="0" err="1">
                <a:latin typeface="Calibri" panose="020F0502020204030204" pitchFamily="34" charset="0"/>
                <a:cs typeface="Calibri" panose="020F0502020204030204" pitchFamily="34" charset="0"/>
              </a:rPr>
              <a:t>Yaesu</a:t>
            </a:r>
            <a:r>
              <a:rPr lang="en-US" sz="4000" dirty="0">
                <a:latin typeface="Calibri" panose="020F0502020204030204" pitchFamily="34" charset="0"/>
                <a:cs typeface="Calibri" panose="020F0502020204030204" pitchFamily="34" charset="0"/>
              </a:rPr>
              <a:t> AZ/EL rotator, Arrow </a:t>
            </a:r>
            <a:r>
              <a:rPr lang="en-US" sz="4000" dirty="0" err="1">
                <a:latin typeface="Calibri" panose="020F0502020204030204" pitchFamily="34" charset="0"/>
                <a:cs typeface="Calibri" panose="020F0502020204030204" pitchFamily="34" charset="0"/>
              </a:rPr>
              <a:t>yagi</a:t>
            </a:r>
            <a:r>
              <a:rPr lang="en-US" sz="4000" dirty="0">
                <a:latin typeface="Calibri" panose="020F0502020204030204" pitchFamily="34" charset="0"/>
                <a:cs typeface="Calibri" panose="020F0502020204030204" pitchFamily="34" charset="0"/>
              </a:rPr>
              <a:t> antenna &amp; SAT control device</a:t>
            </a:r>
          </a:p>
        </p:txBody>
      </p:sp>
      <p:pic>
        <p:nvPicPr>
          <p:cNvPr id="4" name="Picture 3">
            <a:extLst>
              <a:ext uri="{FF2B5EF4-FFF2-40B4-BE49-F238E27FC236}">
                <a16:creationId xmlns:a16="http://schemas.microsoft.com/office/drawing/2014/main" id="{B8C44B8B-6360-BCB7-18DE-FEE16E61D240}"/>
              </a:ext>
            </a:extLst>
          </p:cNvPr>
          <p:cNvPicPr>
            <a:picLocks noChangeAspect="1"/>
          </p:cNvPicPr>
          <p:nvPr/>
        </p:nvPicPr>
        <p:blipFill>
          <a:blip r:embed="rId2"/>
          <a:stretch>
            <a:fillRect/>
          </a:stretch>
        </p:blipFill>
        <p:spPr>
          <a:xfrm>
            <a:off x="4288465" y="1806291"/>
            <a:ext cx="7326024" cy="4687344"/>
          </a:xfrm>
          <a:prstGeom prst="rect">
            <a:avLst/>
          </a:prstGeom>
        </p:spPr>
      </p:pic>
      <p:pic>
        <p:nvPicPr>
          <p:cNvPr id="7" name="Picture 6">
            <a:extLst>
              <a:ext uri="{FF2B5EF4-FFF2-40B4-BE49-F238E27FC236}">
                <a16:creationId xmlns:a16="http://schemas.microsoft.com/office/drawing/2014/main" id="{AEC5F716-BF7E-5654-6AF8-A4B384D4A375}"/>
              </a:ext>
            </a:extLst>
          </p:cNvPr>
          <p:cNvPicPr>
            <a:picLocks noChangeAspect="1"/>
          </p:cNvPicPr>
          <p:nvPr/>
        </p:nvPicPr>
        <p:blipFill>
          <a:blip r:embed="rId3"/>
          <a:stretch>
            <a:fillRect/>
          </a:stretch>
        </p:blipFill>
        <p:spPr>
          <a:xfrm>
            <a:off x="753037" y="1728612"/>
            <a:ext cx="2986946" cy="4907553"/>
          </a:xfrm>
          <a:prstGeom prst="rect">
            <a:avLst/>
          </a:prstGeom>
        </p:spPr>
      </p:pic>
    </p:spTree>
    <p:extLst>
      <p:ext uri="{BB962C8B-B14F-4D97-AF65-F5344CB8AC3E}">
        <p14:creationId xmlns:p14="http://schemas.microsoft.com/office/powerpoint/2010/main" val="3775879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4400" b="1" spc="-100" dirty="0">
                <a:solidFill>
                  <a:schemeClr val="tx1"/>
                </a:solidFill>
                <a:latin typeface="Calibri" panose="020F0502020204030204" pitchFamily="34" charset="0"/>
                <a:cs typeface="Calibri" panose="020F0502020204030204" pitchFamily="34" charset="0"/>
              </a:rPr>
              <a:t>Antennas</a:t>
            </a:r>
            <a:br>
              <a:rPr lang="en-US" sz="4400" b="1" spc="-100" dirty="0">
                <a:solidFill>
                  <a:schemeClr val="tx1"/>
                </a:solidFill>
                <a:latin typeface="Calibri" panose="020F0502020204030204" pitchFamily="34" charset="0"/>
                <a:cs typeface="Calibri" panose="020F0502020204030204" pitchFamily="34" charset="0"/>
              </a:rPr>
            </a:br>
            <a:r>
              <a:rPr lang="en-US" sz="4400" spc="-100" dirty="0">
                <a:solidFill>
                  <a:schemeClr val="tx1"/>
                </a:solidFill>
                <a:latin typeface="Calibri" panose="020F0502020204030204" pitchFamily="34" charset="0"/>
                <a:cs typeface="Calibri" panose="020F0502020204030204" pitchFamily="34" charset="0"/>
              </a:rPr>
              <a:t>Ryan AF4O</a:t>
            </a:r>
            <a:endParaRPr lang="en-US" sz="4400" b="1" spc="-1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862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AAC3B5EC-F4E1-FF48-9A88-8D845E3CAB6B}"/>
              </a:ext>
            </a:extLst>
          </p:cNvPr>
          <p:cNvGraphicFramePr>
            <a:graphicFrameLocks noGrp="1"/>
          </p:cNvGraphicFramePr>
          <p:nvPr>
            <p:ph idx="1"/>
            <p:extLst>
              <p:ext uri="{D42A27DB-BD31-4B8C-83A1-F6EECF244321}">
                <p14:modId xmlns:p14="http://schemas.microsoft.com/office/powerpoint/2010/main" val="1240333595"/>
              </p:ext>
            </p:extLst>
          </p:nvPr>
        </p:nvGraphicFramePr>
        <p:xfrm>
          <a:off x="1104629" y="693987"/>
          <a:ext cx="9804375"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402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31E7-7B90-26BE-FFC9-4D69F682D8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CE44D1-D470-D673-A734-EDA5EA63C605}"/>
              </a:ext>
            </a:extLst>
          </p:cNvPr>
          <p:cNvSpPr>
            <a:spLocks noGrp="1"/>
          </p:cNvSpPr>
          <p:nvPr>
            <p:ph idx="1"/>
          </p:nvPr>
        </p:nvSpPr>
        <p:spPr>
          <a:xfrm>
            <a:off x="410369" y="545130"/>
            <a:ext cx="6415733" cy="5451633"/>
          </a:xfrm>
        </p:spPr>
        <p:txBody>
          <a:bodyPr>
            <a:normAutofit/>
          </a:bodyPr>
          <a:lstStyle/>
          <a:p>
            <a:r>
              <a:rPr lang="en-US" sz="3500" b="1" dirty="0">
                <a:latin typeface="Calibri" panose="020F0502020204030204" pitchFamily="34" charset="0"/>
                <a:ea typeface="Calibri" panose="020F0502020204030204" pitchFamily="34" charset="0"/>
                <a:cs typeface="Calibri" panose="020F0502020204030204" pitchFamily="34" charset="0"/>
              </a:rPr>
              <a:t>All antenna feedlines will come back to the radio room into this portable patch panel. </a:t>
            </a:r>
          </a:p>
          <a:p>
            <a:endParaRPr lang="en-US" sz="3500" b="1" dirty="0">
              <a:latin typeface="Calibri" panose="020F0502020204030204" pitchFamily="34" charset="0"/>
              <a:ea typeface="Calibri" panose="020F0502020204030204" pitchFamily="34" charset="0"/>
              <a:cs typeface="Calibri" panose="020F0502020204030204" pitchFamily="34" charset="0"/>
            </a:endParaRPr>
          </a:p>
          <a:p>
            <a:r>
              <a:rPr lang="en-US" sz="3500" b="1" dirty="0">
                <a:latin typeface="Calibri" panose="020F0502020204030204" pitchFamily="34" charset="0"/>
                <a:ea typeface="Calibri" panose="020F0502020204030204" pitchFamily="34" charset="0"/>
                <a:cs typeface="Calibri" panose="020F0502020204030204" pitchFamily="34" charset="0"/>
              </a:rPr>
              <a:t>This is how the radios will be connected to various antennas.</a:t>
            </a:r>
          </a:p>
          <a:p>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b="1" dirty="0">
                <a:latin typeface="Calibri" panose="020F0502020204030204" pitchFamily="34" charset="0"/>
                <a:ea typeface="Calibri" panose="020F0502020204030204" pitchFamily="34" charset="0"/>
                <a:cs typeface="Calibri" panose="020F0502020204030204" pitchFamily="34" charset="0"/>
              </a:rPr>
              <a:t>Do NOT make any changes in coax configuration without approval from the assigned ‘Band Boss’.</a:t>
            </a:r>
          </a:p>
        </p:txBody>
      </p:sp>
      <p:pic>
        <p:nvPicPr>
          <p:cNvPr id="4" name="Picture 3">
            <a:extLst>
              <a:ext uri="{FF2B5EF4-FFF2-40B4-BE49-F238E27FC236}">
                <a16:creationId xmlns:a16="http://schemas.microsoft.com/office/drawing/2014/main" id="{4C52BDDB-2187-7F47-0524-D4CCBF3932B6}"/>
              </a:ext>
            </a:extLst>
          </p:cNvPr>
          <p:cNvPicPr>
            <a:picLocks noChangeAspect="1"/>
          </p:cNvPicPr>
          <p:nvPr/>
        </p:nvPicPr>
        <p:blipFill>
          <a:blip r:embed="rId2"/>
          <a:stretch>
            <a:fillRect/>
          </a:stretch>
        </p:blipFill>
        <p:spPr>
          <a:xfrm>
            <a:off x="6914909" y="331022"/>
            <a:ext cx="4866722" cy="6293061"/>
          </a:xfrm>
          <a:prstGeom prst="rect">
            <a:avLst/>
          </a:prstGeom>
        </p:spPr>
      </p:pic>
    </p:spTree>
    <p:extLst>
      <p:ext uri="{BB962C8B-B14F-4D97-AF65-F5344CB8AC3E}">
        <p14:creationId xmlns:p14="http://schemas.microsoft.com/office/powerpoint/2010/main" val="775069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4400" b="1" spc="-100" dirty="0">
                <a:solidFill>
                  <a:schemeClr val="tx1"/>
                </a:solidFill>
                <a:latin typeface="Calibri" panose="020F0502020204030204" pitchFamily="34" charset="0"/>
                <a:cs typeface="Calibri" panose="020F0502020204030204" pitchFamily="34" charset="0"/>
              </a:rPr>
              <a:t>Education</a:t>
            </a:r>
            <a:br>
              <a:rPr lang="en-US" sz="4400" spc="-100" dirty="0">
                <a:solidFill>
                  <a:schemeClr val="tx1"/>
                </a:solidFill>
                <a:latin typeface="Calibri" panose="020F0502020204030204" pitchFamily="34" charset="0"/>
                <a:cs typeface="Calibri" panose="020F0502020204030204" pitchFamily="34" charset="0"/>
              </a:rPr>
            </a:br>
            <a:r>
              <a:rPr lang="en-US" sz="4400" spc="-100" dirty="0">
                <a:solidFill>
                  <a:schemeClr val="tx1"/>
                </a:solidFill>
                <a:latin typeface="Calibri" panose="020F0502020204030204" pitchFamily="34" charset="0"/>
                <a:cs typeface="Calibri" panose="020F0502020204030204" pitchFamily="34" charset="0"/>
              </a:rPr>
              <a:t>Fred  W2SUB</a:t>
            </a:r>
          </a:p>
        </p:txBody>
      </p:sp>
    </p:spTree>
    <p:extLst>
      <p:ext uri="{BB962C8B-B14F-4D97-AF65-F5344CB8AC3E}">
        <p14:creationId xmlns:p14="http://schemas.microsoft.com/office/powerpoint/2010/main" val="4124345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3DA132-0F0A-B6F6-8E76-55B1AB311856}"/>
              </a:ext>
            </a:extLst>
          </p:cNvPr>
          <p:cNvSpPr txBox="1"/>
          <p:nvPr/>
        </p:nvSpPr>
        <p:spPr>
          <a:xfrm>
            <a:off x="881003" y="417265"/>
            <a:ext cx="7124212" cy="1446550"/>
          </a:xfrm>
          <a:prstGeom prst="rect">
            <a:avLst/>
          </a:prstGeom>
          <a:noFill/>
        </p:spPr>
        <p:txBody>
          <a:bodyPr wrap="square" rtlCol="0">
            <a:spAutoFit/>
          </a:bodyPr>
          <a:lstStyle/>
          <a:p>
            <a:pPr algn="ctr"/>
            <a:r>
              <a:rPr lang="en-US" sz="4400" b="1" dirty="0"/>
              <a:t>Field Day Education and Training Sessions</a:t>
            </a:r>
          </a:p>
        </p:txBody>
      </p:sp>
      <p:sp>
        <p:nvSpPr>
          <p:cNvPr id="5" name="TextBox 4">
            <a:extLst>
              <a:ext uri="{FF2B5EF4-FFF2-40B4-BE49-F238E27FC236}">
                <a16:creationId xmlns:a16="http://schemas.microsoft.com/office/drawing/2014/main" id="{EDE0A7E1-65F4-FCCC-051D-5480CE95294E}"/>
              </a:ext>
            </a:extLst>
          </p:cNvPr>
          <p:cNvSpPr txBox="1"/>
          <p:nvPr/>
        </p:nvSpPr>
        <p:spPr>
          <a:xfrm>
            <a:off x="1178859" y="2825568"/>
            <a:ext cx="6955494" cy="2554545"/>
          </a:xfrm>
          <a:prstGeom prst="rect">
            <a:avLst/>
          </a:prstGeom>
          <a:noFill/>
        </p:spPr>
        <p:txBody>
          <a:bodyPr wrap="none" rtlCol="0">
            <a:spAutoFit/>
          </a:bodyPr>
          <a:lstStyle/>
          <a:p>
            <a:pPr marL="457200" indent="-457200">
              <a:buFont typeface="Arial" panose="020B0604020202020204" pitchFamily="34" charset="0"/>
              <a:buChar char="•"/>
            </a:pPr>
            <a:r>
              <a:rPr lang="en-US" sz="3200" dirty="0"/>
              <a:t>Welcome to Field Day – all Visitors</a:t>
            </a:r>
          </a:p>
          <a:p>
            <a:pPr marL="457200" indent="-457200">
              <a:buFont typeface="Arial" panose="020B0604020202020204" pitchFamily="34" charset="0"/>
              <a:buChar char="•"/>
            </a:pPr>
            <a:r>
              <a:rPr lang="en-US" sz="3200" dirty="0"/>
              <a:t>Ham Radio Basics </a:t>
            </a:r>
          </a:p>
          <a:p>
            <a:pPr marL="457200" indent="-457200">
              <a:buFont typeface="Arial" panose="020B0604020202020204" pitchFamily="34" charset="0"/>
              <a:buChar char="•"/>
            </a:pPr>
            <a:r>
              <a:rPr lang="en-US" sz="3200" dirty="0"/>
              <a:t>Ham Radio Awards &amp; Achievements</a:t>
            </a:r>
          </a:p>
          <a:p>
            <a:pPr marL="457200" indent="-457200">
              <a:buFont typeface="Arial" panose="020B0604020202020204" pitchFamily="34" charset="0"/>
              <a:buChar char="•"/>
            </a:pPr>
            <a:r>
              <a:rPr lang="en-US" sz="3200" dirty="0"/>
              <a:t>How to build an EFHW kit antenna</a:t>
            </a:r>
          </a:p>
          <a:p>
            <a:pPr marL="457200" indent="-457200">
              <a:buFont typeface="Arial" panose="020B0604020202020204" pitchFamily="34" charset="0"/>
              <a:buChar char="•"/>
            </a:pPr>
            <a:r>
              <a:rPr lang="en-US" sz="3200" dirty="0"/>
              <a:t>How to use an Antenna Analyzer</a:t>
            </a:r>
          </a:p>
        </p:txBody>
      </p:sp>
      <p:sp>
        <p:nvSpPr>
          <p:cNvPr id="7" name="TextBox 6">
            <a:extLst>
              <a:ext uri="{FF2B5EF4-FFF2-40B4-BE49-F238E27FC236}">
                <a16:creationId xmlns:a16="http://schemas.microsoft.com/office/drawing/2014/main" id="{26CFC189-68C9-7A05-A165-640C3AAF0CA1}"/>
              </a:ext>
            </a:extLst>
          </p:cNvPr>
          <p:cNvSpPr txBox="1"/>
          <p:nvPr/>
        </p:nvSpPr>
        <p:spPr>
          <a:xfrm>
            <a:off x="6491698" y="5880201"/>
            <a:ext cx="4140492" cy="461665"/>
          </a:xfrm>
          <a:prstGeom prst="rect">
            <a:avLst/>
          </a:prstGeom>
          <a:noFill/>
        </p:spPr>
        <p:txBody>
          <a:bodyPr wrap="none" rtlCol="0">
            <a:spAutoFit/>
          </a:bodyPr>
          <a:lstStyle/>
          <a:p>
            <a:pPr marL="342900" indent="-342900">
              <a:buFont typeface="Wingdings" panose="05000000000000000000" pitchFamily="2" charset="2"/>
              <a:buChar char="Ø"/>
            </a:pPr>
            <a:r>
              <a:rPr lang="en-US" sz="2400" i="1" dirty="0"/>
              <a:t>Training led by Fred W2SUB</a:t>
            </a:r>
          </a:p>
        </p:txBody>
      </p:sp>
      <p:pic>
        <p:nvPicPr>
          <p:cNvPr id="2050" name="Picture 2" descr="Field Day Pin 2026">
            <a:extLst>
              <a:ext uri="{FF2B5EF4-FFF2-40B4-BE49-F238E27FC236}">
                <a16:creationId xmlns:a16="http://schemas.microsoft.com/office/drawing/2014/main" id="{1C84E905-7CAC-CB99-987A-6D7104232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244" y="93890"/>
            <a:ext cx="3335110" cy="333511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5A8468AE-4608-0FA5-E19A-CD4459045D9A}"/>
              </a:ext>
            </a:extLst>
          </p:cNvPr>
          <p:cNvSpPr/>
          <p:nvPr/>
        </p:nvSpPr>
        <p:spPr>
          <a:xfrm rot="19918928">
            <a:off x="8369151" y="3488626"/>
            <a:ext cx="3276600" cy="1817914"/>
          </a:xfrm>
          <a:prstGeom prst="roundRect">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t>ANY UPDATES NEEDED?</a:t>
            </a:r>
          </a:p>
        </p:txBody>
      </p:sp>
    </p:spTree>
    <p:extLst>
      <p:ext uri="{BB962C8B-B14F-4D97-AF65-F5344CB8AC3E}">
        <p14:creationId xmlns:p14="http://schemas.microsoft.com/office/powerpoint/2010/main" val="874618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361953" cy="1775297"/>
          </a:xfrm>
        </p:spPr>
        <p:txBody>
          <a:bodyPr vert="horz" lIns="91440" tIns="45720" rIns="91440" bIns="45720" rtlCol="0" anchor="b">
            <a:normAutofit/>
          </a:bodyPr>
          <a:lstStyle/>
          <a:p>
            <a:r>
              <a:rPr lang="en-US" sz="4400" b="1" spc="-100" dirty="0">
                <a:solidFill>
                  <a:schemeClr val="tx1"/>
                </a:solidFill>
                <a:latin typeface="Calibri" panose="020F0502020204030204" pitchFamily="34" charset="0"/>
                <a:cs typeface="Calibri" panose="020F0502020204030204" pitchFamily="34" charset="0"/>
              </a:rPr>
              <a:t>6m Station</a:t>
            </a:r>
            <a:endParaRPr lang="en-US" sz="4400" spc="-1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4310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1FE1F-E9A8-167D-5EE7-C1393A2862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3DAF0B-25B8-008F-0C2D-FD7C0BCF4C67}"/>
              </a:ext>
            </a:extLst>
          </p:cNvPr>
          <p:cNvSpPr txBox="1"/>
          <p:nvPr/>
        </p:nvSpPr>
        <p:spPr>
          <a:xfrm>
            <a:off x="1022770" y="970158"/>
            <a:ext cx="5860039" cy="769441"/>
          </a:xfrm>
          <a:prstGeom prst="rect">
            <a:avLst/>
          </a:prstGeom>
          <a:noFill/>
        </p:spPr>
        <p:txBody>
          <a:bodyPr wrap="square" rtlCol="0">
            <a:spAutoFit/>
          </a:bodyPr>
          <a:lstStyle/>
          <a:p>
            <a:pPr algn="ctr"/>
            <a:r>
              <a:rPr lang="en-US" sz="4400" b="1" dirty="0"/>
              <a:t>6 Meter Station</a:t>
            </a:r>
          </a:p>
        </p:txBody>
      </p:sp>
      <p:sp>
        <p:nvSpPr>
          <p:cNvPr id="5" name="TextBox 4">
            <a:extLst>
              <a:ext uri="{FF2B5EF4-FFF2-40B4-BE49-F238E27FC236}">
                <a16:creationId xmlns:a16="http://schemas.microsoft.com/office/drawing/2014/main" id="{CEB4670A-CBC4-4FBF-3CEC-A8BBB3FE5204}"/>
              </a:ext>
            </a:extLst>
          </p:cNvPr>
          <p:cNvSpPr txBox="1"/>
          <p:nvPr/>
        </p:nvSpPr>
        <p:spPr>
          <a:xfrm>
            <a:off x="1178859" y="2825568"/>
            <a:ext cx="5505476" cy="2554545"/>
          </a:xfrm>
          <a:prstGeom prst="rect">
            <a:avLst/>
          </a:prstGeom>
          <a:noFill/>
        </p:spPr>
        <p:txBody>
          <a:bodyPr wrap="square" rtlCol="0">
            <a:spAutoFit/>
          </a:bodyPr>
          <a:lstStyle/>
          <a:p>
            <a:pPr marL="457200" indent="-457200">
              <a:buFont typeface="Arial" panose="020B0604020202020204" pitchFamily="34" charset="0"/>
              <a:buChar char="•"/>
            </a:pPr>
            <a:r>
              <a:rPr lang="en-US" sz="3200" dirty="0"/>
              <a:t>“6 meter Paul” </a:t>
            </a:r>
          </a:p>
          <a:p>
            <a:pPr marL="914400" lvl="1" indent="-457200">
              <a:buFont typeface="Arial" panose="020B0604020202020204" pitchFamily="34" charset="0"/>
              <a:buChar char="•"/>
            </a:pPr>
            <a:r>
              <a:rPr lang="en-US" sz="3200" dirty="0"/>
              <a:t>Paul KC4YDY will bring his dedicated 6m station back to Field Day this year</a:t>
            </a:r>
          </a:p>
        </p:txBody>
      </p:sp>
      <p:pic>
        <p:nvPicPr>
          <p:cNvPr id="3074" name="Picture 2" descr="Field Day Pin 2026">
            <a:extLst>
              <a:ext uri="{FF2B5EF4-FFF2-40B4-BE49-F238E27FC236}">
                <a16:creationId xmlns:a16="http://schemas.microsoft.com/office/drawing/2014/main" id="{675E63C3-37A9-FDB5-0989-31202FBB9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9933" y="248937"/>
            <a:ext cx="2981324" cy="2981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99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2789B-F5E1-2C03-D1FC-886EA1BF5218}"/>
            </a:ext>
          </a:extLst>
        </p:cNvPr>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42CD3F26-CD11-0CC7-5C6C-B55F09EE12D2}"/>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CFB12108-F9F6-55F3-3D70-00D42A07A52D}"/>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4400" b="1" spc="-100" dirty="0">
                <a:solidFill>
                  <a:schemeClr val="tx1"/>
                </a:solidFill>
                <a:latin typeface="Calibri" panose="020F0502020204030204" pitchFamily="34" charset="0"/>
                <a:cs typeface="Calibri" panose="020F0502020204030204" pitchFamily="34" charset="0"/>
              </a:rPr>
              <a:t>Fine Dining</a:t>
            </a:r>
            <a:br>
              <a:rPr lang="en-US" sz="4400" b="1" spc="-100" dirty="0">
                <a:solidFill>
                  <a:schemeClr val="tx1"/>
                </a:solidFill>
                <a:latin typeface="Calibri" panose="020F0502020204030204" pitchFamily="34" charset="0"/>
                <a:cs typeface="Calibri" panose="020F0502020204030204" pitchFamily="34" charset="0"/>
              </a:rPr>
            </a:br>
            <a:r>
              <a:rPr lang="en-US" sz="4400" spc="-100" dirty="0">
                <a:solidFill>
                  <a:schemeClr val="tx1"/>
                </a:solidFill>
                <a:latin typeface="Calibri" panose="020F0502020204030204" pitchFamily="34" charset="0"/>
                <a:cs typeface="Calibri" panose="020F0502020204030204" pitchFamily="34" charset="0"/>
              </a:rPr>
              <a:t>Ron W4RFA</a:t>
            </a:r>
          </a:p>
        </p:txBody>
      </p:sp>
    </p:spTree>
    <p:extLst>
      <p:ext uri="{BB962C8B-B14F-4D97-AF65-F5344CB8AC3E}">
        <p14:creationId xmlns:p14="http://schemas.microsoft.com/office/powerpoint/2010/main" val="237286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36B94-FE93-65D1-C4AB-47D1FFE999FF}"/>
              </a:ext>
            </a:extLst>
          </p:cNvPr>
          <p:cNvSpPr>
            <a:spLocks noGrp="1"/>
          </p:cNvSpPr>
          <p:nvPr>
            <p:ph idx="1"/>
          </p:nvPr>
        </p:nvSpPr>
        <p:spPr>
          <a:xfrm>
            <a:off x="6453683" y="164183"/>
            <a:ext cx="5560564" cy="5889287"/>
          </a:xfrm>
        </p:spPr>
        <p:txBody>
          <a:bodyPr>
            <a:normAutofit fontScale="92500" lnSpcReduction="10000"/>
          </a:bodyPr>
          <a:lstStyle/>
          <a:p>
            <a:endParaRPr lang="en-US" sz="3200" dirty="0">
              <a:latin typeface="Calibri" panose="020F0502020204030204" pitchFamily="34" charset="0"/>
              <a:cs typeface="Calibri" panose="020F0502020204030204" pitchFamily="34" charset="0"/>
            </a:endParaRPr>
          </a:p>
          <a:p>
            <a:r>
              <a:rPr lang="en-US" sz="3200" b="1" dirty="0">
                <a:latin typeface="Calibri" panose="020F0502020204030204" pitchFamily="34" charset="0"/>
                <a:cs typeface="Calibri" panose="020F0502020204030204" pitchFamily="34" charset="0"/>
              </a:rPr>
              <a:t>Saturday Breakfast </a:t>
            </a:r>
            <a:r>
              <a:rPr lang="en-US" sz="3200" dirty="0">
                <a:latin typeface="Calibri" panose="020F0502020204030204" pitchFamily="34" charset="0"/>
                <a:cs typeface="Calibri" panose="020F0502020204030204" pitchFamily="34" charset="0"/>
              </a:rPr>
              <a:t>= Donuts, Coffee</a:t>
            </a:r>
          </a:p>
          <a:p>
            <a:r>
              <a:rPr lang="en-US" sz="3200" b="1" dirty="0">
                <a:latin typeface="Calibri" panose="020F0502020204030204" pitchFamily="34" charset="0"/>
                <a:cs typeface="Calibri" panose="020F0502020204030204" pitchFamily="34" charset="0"/>
              </a:rPr>
              <a:t>Saturday Lunch </a:t>
            </a:r>
            <a:r>
              <a:rPr lang="en-US" sz="3200" dirty="0">
                <a:latin typeface="Calibri" panose="020F0502020204030204" pitchFamily="34" charset="0"/>
                <a:cs typeface="Calibri" panose="020F0502020204030204" pitchFamily="34" charset="0"/>
              </a:rPr>
              <a:t>= Hamburgers and hotdogs, salad, chips, etc.</a:t>
            </a:r>
          </a:p>
          <a:p>
            <a:r>
              <a:rPr lang="en-US" sz="3200" b="1" dirty="0">
                <a:latin typeface="Calibri" panose="020F0502020204030204" pitchFamily="34" charset="0"/>
                <a:cs typeface="Calibri" panose="020F0502020204030204" pitchFamily="34" charset="0"/>
              </a:rPr>
              <a:t>Saturday Dinner </a:t>
            </a:r>
            <a:r>
              <a:rPr lang="en-US" sz="3200" dirty="0">
                <a:latin typeface="Calibri" panose="020F0502020204030204" pitchFamily="34" charset="0"/>
                <a:cs typeface="Calibri" panose="020F0502020204030204" pitchFamily="34" charset="0"/>
              </a:rPr>
              <a:t>= </a:t>
            </a:r>
            <a:r>
              <a:rPr lang="en-US" sz="2800" dirty="0">
                <a:latin typeface="Calibri" panose="020F0502020204030204" pitchFamily="34" charset="0"/>
                <a:cs typeface="Calibri" panose="020F0502020204030204" pitchFamily="34" charset="0"/>
              </a:rPr>
              <a:t>TBD</a:t>
            </a:r>
          </a:p>
          <a:p>
            <a:pPr lvl="1"/>
            <a:r>
              <a:rPr lang="en-US" sz="3000" dirty="0">
                <a:latin typeface="Calibri" panose="020F0502020204030204" pitchFamily="34" charset="0"/>
                <a:cs typeface="Calibri" panose="020F0502020204030204" pitchFamily="34" charset="0"/>
              </a:rPr>
              <a:t>Bring a side dish to share for Saturday dinner.</a:t>
            </a:r>
          </a:p>
          <a:p>
            <a:r>
              <a:rPr lang="en-US" sz="3200" b="1" dirty="0">
                <a:latin typeface="Calibri" panose="020F0502020204030204" pitchFamily="34" charset="0"/>
                <a:cs typeface="Calibri" panose="020F0502020204030204" pitchFamily="34" charset="0"/>
              </a:rPr>
              <a:t>Sunday Breakfast </a:t>
            </a:r>
            <a:r>
              <a:rPr lang="en-US" sz="3200" dirty="0">
                <a:latin typeface="Calibri" panose="020F0502020204030204" pitchFamily="34" charset="0"/>
                <a:cs typeface="Calibri" panose="020F0502020204030204" pitchFamily="34" charset="0"/>
              </a:rPr>
              <a:t>= Bagels (Tom), coffee</a:t>
            </a:r>
          </a:p>
          <a:p>
            <a:r>
              <a:rPr lang="en-US" sz="3200" b="1" dirty="0">
                <a:latin typeface="Calibri" panose="020F0502020204030204" pitchFamily="34" charset="0"/>
                <a:cs typeface="Calibri" panose="020F0502020204030204" pitchFamily="34" charset="0"/>
              </a:rPr>
              <a:t>Sunday Lunch </a:t>
            </a:r>
            <a:r>
              <a:rPr lang="en-US" sz="3200" dirty="0">
                <a:latin typeface="Calibri" panose="020F0502020204030204" pitchFamily="34" charset="0"/>
                <a:cs typeface="Calibri" panose="020F0502020204030204" pitchFamily="34" charset="0"/>
              </a:rPr>
              <a:t>= Leftovers</a:t>
            </a:r>
          </a:p>
          <a:p>
            <a:r>
              <a:rPr lang="en-US" sz="3200" i="1" dirty="0">
                <a:latin typeface="Calibri" panose="020F0502020204030204" pitchFamily="34" charset="0"/>
                <a:cs typeface="Calibri" panose="020F0502020204030204" pitchFamily="34" charset="0"/>
              </a:rPr>
              <a:t>Water, tea and sodas provided the entire events</a:t>
            </a:r>
          </a:p>
        </p:txBody>
      </p:sp>
      <p:pic>
        <p:nvPicPr>
          <p:cNvPr id="5" name="Picture 4">
            <a:extLst>
              <a:ext uri="{FF2B5EF4-FFF2-40B4-BE49-F238E27FC236}">
                <a16:creationId xmlns:a16="http://schemas.microsoft.com/office/drawing/2014/main" id="{A79ED434-A1D6-760E-C7DD-FA290AB4D3E1}"/>
              </a:ext>
            </a:extLst>
          </p:cNvPr>
          <p:cNvPicPr>
            <a:picLocks noChangeAspect="1"/>
          </p:cNvPicPr>
          <p:nvPr/>
        </p:nvPicPr>
        <p:blipFill>
          <a:blip r:embed="rId2"/>
          <a:stretch>
            <a:fillRect/>
          </a:stretch>
        </p:blipFill>
        <p:spPr>
          <a:xfrm>
            <a:off x="354418" y="906667"/>
            <a:ext cx="5634712" cy="3203943"/>
          </a:xfrm>
          <a:prstGeom prst="rect">
            <a:avLst/>
          </a:prstGeom>
        </p:spPr>
      </p:pic>
      <p:sp>
        <p:nvSpPr>
          <p:cNvPr id="2" name="TextBox 1">
            <a:extLst>
              <a:ext uri="{FF2B5EF4-FFF2-40B4-BE49-F238E27FC236}">
                <a16:creationId xmlns:a16="http://schemas.microsoft.com/office/drawing/2014/main" id="{4F398FFA-E031-2112-B488-F933371721E6}"/>
              </a:ext>
            </a:extLst>
          </p:cNvPr>
          <p:cNvSpPr txBox="1"/>
          <p:nvPr/>
        </p:nvSpPr>
        <p:spPr>
          <a:xfrm>
            <a:off x="354418" y="5396046"/>
            <a:ext cx="5351722" cy="1200329"/>
          </a:xfrm>
          <a:prstGeom prst="rect">
            <a:avLst/>
          </a:prstGeom>
          <a:noFill/>
        </p:spPr>
        <p:txBody>
          <a:bodyPr wrap="square" rtlCol="0">
            <a:spAutoFit/>
          </a:bodyPr>
          <a:lstStyle/>
          <a:p>
            <a:r>
              <a:rPr lang="en-US" sz="2400" b="1" i="1" dirty="0"/>
              <a:t>NOTE</a:t>
            </a:r>
            <a:r>
              <a:rPr lang="en-US" sz="2400" i="1" dirty="0"/>
              <a:t>: If you have any special or restrictive dietary needs, please make plans to provide that yourself</a:t>
            </a:r>
          </a:p>
        </p:txBody>
      </p:sp>
      <p:sp>
        <p:nvSpPr>
          <p:cNvPr id="4" name="Rectangle: Rounded Corners 3">
            <a:extLst>
              <a:ext uri="{FF2B5EF4-FFF2-40B4-BE49-F238E27FC236}">
                <a16:creationId xmlns:a16="http://schemas.microsoft.com/office/drawing/2014/main" id="{65222B3A-74FF-4ACD-BF11-4D062FDF67ED}"/>
              </a:ext>
            </a:extLst>
          </p:cNvPr>
          <p:cNvSpPr/>
          <p:nvPr/>
        </p:nvSpPr>
        <p:spPr>
          <a:xfrm rot="19918928">
            <a:off x="4350830" y="2859354"/>
            <a:ext cx="3276600" cy="1817914"/>
          </a:xfrm>
          <a:prstGeom prst="roundRect">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t>ANY UPDATES NEEDED?</a:t>
            </a:r>
          </a:p>
        </p:txBody>
      </p:sp>
    </p:spTree>
    <p:extLst>
      <p:ext uri="{BB962C8B-B14F-4D97-AF65-F5344CB8AC3E}">
        <p14:creationId xmlns:p14="http://schemas.microsoft.com/office/powerpoint/2010/main" val="63035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861759" cy="2470488"/>
          </a:xfrm>
        </p:spPr>
        <p:txBody>
          <a:bodyPr vert="horz" lIns="91440" tIns="45720" rIns="91440" bIns="45720" rtlCol="0" anchor="b">
            <a:normAutofit/>
          </a:bodyPr>
          <a:lstStyle/>
          <a:p>
            <a:r>
              <a:rPr lang="en-US" sz="4400" b="1" spc="-100" dirty="0">
                <a:solidFill>
                  <a:schemeClr val="tx1"/>
                </a:solidFill>
                <a:latin typeface="Calibri" panose="020F0502020204030204" pitchFamily="34" charset="0"/>
                <a:cs typeface="Calibri" panose="020F0502020204030204" pitchFamily="34" charset="0"/>
              </a:rPr>
              <a:t>Contact Logging</a:t>
            </a:r>
            <a:br>
              <a:rPr lang="en-US" sz="4400" spc="-100" dirty="0">
                <a:solidFill>
                  <a:schemeClr val="tx1"/>
                </a:solidFill>
                <a:latin typeface="Calibri" panose="020F0502020204030204" pitchFamily="34" charset="0"/>
                <a:cs typeface="Calibri" panose="020F0502020204030204" pitchFamily="34" charset="0"/>
              </a:rPr>
            </a:br>
            <a:r>
              <a:rPr lang="en-US" sz="4400" spc="-100" dirty="0">
                <a:solidFill>
                  <a:schemeClr val="tx1"/>
                </a:solidFill>
                <a:latin typeface="Calibri" panose="020F0502020204030204" pitchFamily="34" charset="0"/>
                <a:cs typeface="Calibri" panose="020F0502020204030204" pitchFamily="34" charset="0"/>
              </a:rPr>
              <a:t>Tom NY4I</a:t>
            </a:r>
            <a:br>
              <a:rPr lang="en-US" sz="4400" spc="-100" dirty="0">
                <a:solidFill>
                  <a:schemeClr val="tx1"/>
                </a:solidFill>
                <a:latin typeface="Calibri" panose="020F0502020204030204" pitchFamily="34" charset="0"/>
                <a:cs typeface="Calibri" panose="020F0502020204030204" pitchFamily="34" charset="0"/>
              </a:rPr>
            </a:br>
            <a:r>
              <a:rPr lang="en-US" sz="4400" spc="-100" dirty="0">
                <a:solidFill>
                  <a:schemeClr val="tx1"/>
                </a:solidFill>
                <a:latin typeface="Calibri" panose="020F0502020204030204" pitchFamily="34" charset="0"/>
                <a:cs typeface="Calibri" panose="020F0502020204030204" pitchFamily="34" charset="0"/>
              </a:rPr>
              <a:t>TR4W Overview</a:t>
            </a:r>
          </a:p>
        </p:txBody>
      </p:sp>
    </p:spTree>
    <p:extLst>
      <p:ext uri="{BB962C8B-B14F-4D97-AF65-F5344CB8AC3E}">
        <p14:creationId xmlns:p14="http://schemas.microsoft.com/office/powerpoint/2010/main" val="1268480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FE1A-8388-F932-71BC-313D8BEB4D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E7E50-D86A-1AB3-710F-CA7FD08D37AC}"/>
              </a:ext>
            </a:extLst>
          </p:cNvPr>
          <p:cNvSpPr>
            <a:spLocks noGrp="1"/>
          </p:cNvSpPr>
          <p:nvPr>
            <p:ph idx="1"/>
          </p:nvPr>
        </p:nvSpPr>
        <p:spPr>
          <a:xfrm>
            <a:off x="161795" y="196702"/>
            <a:ext cx="5756914" cy="6395484"/>
          </a:xfrm>
        </p:spPr>
        <p:txBody>
          <a:bodyPr>
            <a:normAutofit/>
          </a:bodyPr>
          <a:lstStyle/>
          <a:p>
            <a:pPr marL="0" indent="0">
              <a:buNone/>
            </a:pPr>
            <a:r>
              <a:rPr lang="en-US" sz="3500" b="1" dirty="0">
                <a:latin typeface="Calibri" panose="020F0502020204030204" pitchFamily="34" charset="0"/>
                <a:ea typeface="Calibri" panose="020F0502020204030204" pitchFamily="34" charset="0"/>
                <a:cs typeface="Calibri" panose="020F0502020204030204" pitchFamily="34" charset="0"/>
              </a:rPr>
              <a:t>Contest logging will be done using the trusted TR4W</a:t>
            </a:r>
          </a:p>
          <a:p>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dirty="0">
                <a:latin typeface="Calibri" panose="020F0502020204030204" pitchFamily="34" charset="0"/>
                <a:ea typeface="Calibri" panose="020F0502020204030204" pitchFamily="34" charset="0"/>
                <a:cs typeface="Calibri" panose="020F0502020204030204" pitchFamily="34" charset="0"/>
              </a:rPr>
              <a:t>Each operating station will have a laptop running TR4W</a:t>
            </a:r>
          </a:p>
          <a:p>
            <a:r>
              <a:rPr lang="en-US" sz="3200" dirty="0">
                <a:latin typeface="Calibri" panose="020F0502020204030204" pitchFamily="34" charset="0"/>
                <a:ea typeface="Calibri" panose="020F0502020204030204" pitchFamily="34" charset="0"/>
                <a:cs typeface="Calibri" panose="020F0502020204030204" pitchFamily="34" charset="0"/>
              </a:rPr>
              <a:t>Each station will be connected on an internal only network to sync and track all logged contacts</a:t>
            </a:r>
          </a:p>
          <a:p>
            <a:r>
              <a:rPr lang="en-US" sz="3200" dirty="0">
                <a:latin typeface="Calibri" panose="020F0502020204030204" pitchFamily="34" charset="0"/>
                <a:ea typeface="Calibri" panose="020F0502020204030204" pitchFamily="34" charset="0"/>
                <a:cs typeface="Calibri" panose="020F0502020204030204" pitchFamily="34" charset="0"/>
              </a:rPr>
              <a:t>Don’t forget to “OPON” when starting your shift!</a:t>
            </a:r>
          </a:p>
          <a:p>
            <a:endParaRPr lang="en-US" sz="3200" dirty="0">
              <a:latin typeface="Calibri" panose="020F0502020204030204" pitchFamily="34" charset="0"/>
              <a:ea typeface="Calibri" panose="020F0502020204030204" pitchFamily="34" charset="0"/>
              <a:cs typeface="Calibri" panose="020F0502020204030204" pitchFamily="34" charset="0"/>
            </a:endParaRPr>
          </a:p>
          <a:p>
            <a:endParaRPr lang="en-US" sz="32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70DBEF2-CA7E-55D9-ADA5-A9766B969FDF}"/>
              </a:ext>
            </a:extLst>
          </p:cNvPr>
          <p:cNvPicPr>
            <a:picLocks noChangeAspect="1"/>
          </p:cNvPicPr>
          <p:nvPr/>
        </p:nvPicPr>
        <p:blipFill>
          <a:blip r:embed="rId2"/>
          <a:stretch>
            <a:fillRect/>
          </a:stretch>
        </p:blipFill>
        <p:spPr>
          <a:xfrm>
            <a:off x="5918709" y="196702"/>
            <a:ext cx="6098960" cy="2994886"/>
          </a:xfrm>
          <a:prstGeom prst="rect">
            <a:avLst/>
          </a:prstGeom>
        </p:spPr>
      </p:pic>
      <p:sp>
        <p:nvSpPr>
          <p:cNvPr id="2" name="Rectangle: Rounded Corners 1">
            <a:extLst>
              <a:ext uri="{FF2B5EF4-FFF2-40B4-BE49-F238E27FC236}">
                <a16:creationId xmlns:a16="http://schemas.microsoft.com/office/drawing/2014/main" id="{C00B30E2-1CE9-9294-62F8-BFA246ECA619}"/>
              </a:ext>
            </a:extLst>
          </p:cNvPr>
          <p:cNvSpPr/>
          <p:nvPr/>
        </p:nvSpPr>
        <p:spPr>
          <a:xfrm rot="19918928">
            <a:off x="7130143" y="4111213"/>
            <a:ext cx="3276600" cy="1817914"/>
          </a:xfrm>
          <a:prstGeom prst="roundRect">
            <a:avLst/>
          </a:prstGeom>
          <a:solidFill>
            <a:srgbClr val="FFC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dirty="0"/>
              <a:t>ANY UPDATES NEEDED?</a:t>
            </a:r>
          </a:p>
        </p:txBody>
      </p:sp>
    </p:spTree>
    <p:extLst>
      <p:ext uri="{BB962C8B-B14F-4D97-AF65-F5344CB8AC3E}">
        <p14:creationId xmlns:p14="http://schemas.microsoft.com/office/powerpoint/2010/main" val="3982681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ell towers">
            <a:extLst>
              <a:ext uri="{FF2B5EF4-FFF2-40B4-BE49-F238E27FC236}">
                <a16:creationId xmlns:a16="http://schemas.microsoft.com/office/drawing/2014/main" id="{820514CB-D911-B2E6-0EAE-9B66156A7EEC}"/>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5EBB4FE7-D207-4E54-B3BE-5BEB8FE38379}"/>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5400" b="1" spc="-100" dirty="0">
                <a:solidFill>
                  <a:schemeClr val="tx1"/>
                </a:solidFill>
                <a:latin typeface="Calibri" panose="020F0502020204030204" pitchFamily="34" charset="0"/>
                <a:cs typeface="Calibri" panose="020F0502020204030204" pitchFamily="34" charset="0"/>
              </a:rPr>
              <a:t>Field Day</a:t>
            </a:r>
            <a:br>
              <a:rPr lang="en-US" sz="5400" b="1" spc="-100" dirty="0">
                <a:solidFill>
                  <a:schemeClr val="tx1"/>
                </a:solidFill>
                <a:latin typeface="Calibri" panose="020F0502020204030204" pitchFamily="34" charset="0"/>
                <a:cs typeface="Calibri" panose="020F0502020204030204" pitchFamily="34" charset="0"/>
              </a:rPr>
            </a:br>
            <a:r>
              <a:rPr lang="en-US" sz="5400" spc="-100" dirty="0">
                <a:solidFill>
                  <a:schemeClr val="tx1"/>
                </a:solidFill>
                <a:latin typeface="Calibri" panose="020F0502020204030204" pitchFamily="34" charset="0"/>
                <a:cs typeface="Calibri" panose="020F0502020204030204" pitchFamily="34" charset="0"/>
              </a:rPr>
              <a:t>Q&amp;A</a:t>
            </a:r>
          </a:p>
        </p:txBody>
      </p:sp>
    </p:spTree>
    <p:extLst>
      <p:ext uri="{BB962C8B-B14F-4D97-AF65-F5344CB8AC3E}">
        <p14:creationId xmlns:p14="http://schemas.microsoft.com/office/powerpoint/2010/main" val="2700456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1208</TotalTime>
  <Words>660</Words>
  <Application>Microsoft Office PowerPoint</Application>
  <PresentationFormat>Widescreen</PresentationFormat>
  <Paragraphs>79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What is ARRL Field Day?</vt:lpstr>
      <vt:lpstr>PowerPoint Presentation</vt:lpstr>
      <vt:lpstr>Operating Modes &amp; Bands</vt:lpstr>
      <vt:lpstr>PowerPoint Presentation</vt:lpstr>
      <vt:lpstr>Station Gear</vt:lpstr>
      <vt:lpstr>PowerPoint Presentation</vt:lpstr>
      <vt:lpstr>PowerPoint Presentation</vt:lpstr>
      <vt:lpstr>Antennas Ryan AF4O</vt:lpstr>
      <vt:lpstr>PowerPoint Presentation</vt:lpstr>
      <vt:lpstr>PowerPoint Presentation</vt:lpstr>
      <vt:lpstr>Education Fred  W2SUB</vt:lpstr>
      <vt:lpstr>PowerPoint Presentation</vt:lpstr>
      <vt:lpstr>6m Station</vt:lpstr>
      <vt:lpstr>PowerPoint Presentation</vt:lpstr>
      <vt:lpstr>Fine Dining Ron W4RFA</vt:lpstr>
      <vt:lpstr>PowerPoint Presentation</vt:lpstr>
      <vt:lpstr>Contact Logging Tom NY4I TR4W Overview</vt:lpstr>
      <vt:lpstr>PowerPoint Presentation</vt:lpstr>
      <vt:lpstr>Field Day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Rager</dc:creator>
  <cp:lastModifiedBy>Ryan Rager</cp:lastModifiedBy>
  <cp:revision>3</cp:revision>
  <dcterms:created xsi:type="dcterms:W3CDTF">2025-06-01T20:57:52Z</dcterms:created>
  <dcterms:modified xsi:type="dcterms:W3CDTF">2026-05-19T19:00:37Z</dcterms:modified>
</cp:coreProperties>
</file>